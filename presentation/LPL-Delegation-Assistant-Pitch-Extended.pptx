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Opener (20 seconds). We built a compliant AI assistant for advisors. The AI drafts, humans stay accountable, and the system can prove it. We are competing for Startup We'd Buy Tomorrow and Best Technical Execution, and we are also judged on Best Use of AWS.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pain from the advisor and compliance sides. Replace or add a sourced statistic here, for example advisor time spent on administrative work, with a citation, before presenting. The regulatory statements on the right are general descriptions of FINRA 2210 and Reg BI, not legal advice.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it concrete: three people touch every document. The buyer is the firm, specifically compliance and operations, because they carry the risk. The users are advisors and assistants, who get the speed.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the AI does the first draft, people stay accountable, and the system produces the evidence. Walk left to right along the chevrons. This is the whole product in one picture.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demo here (about 90 seconds), preferably a pre-recorded video with the live site as a fallback. Show the blocking finding, the two approvals and the integrity banner. The demo password is lpl-demo. Do not read it out; type it before the session or use a recorded run.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on this slide is built and can be shown. We deliberately keep future ideas for the roadmap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differentiator. The rules are deterministic code, not a prompt, so they are testable and explainable to a compliance officer. They support supervisory review and do not replace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simple. Browser to Streamlit to FastAPI. The backend calls Bedrock for drafts and DynamoDB for state and the audit log. The instance uses an IAM role, so there are no AWS keys on the server. GitHub Actions rebuilds the instance on every push. Full diagrams are in 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want the right service for the right reason. Bedrock is the model, DynamoDB is the shared state and the integrity-critical audit log, EC2 hosts it, IAM keeps keys off the machine. Be honest about trade-offs: single instance and plain HTTP today; the roadmap covers a load balancer with HTTPS.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hard parts. Anyone can call a model; the engineering is in making approvals atomic, the record defensible and the checks enforced where they cannot be bypassed.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wedge: others help write; we help write safely and prove it. Competitor columns are typical capabilities, not claims about specific products. Add a sourced market-size figure here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transparent. The first two numbers are an illustrative model built from stated assumptions, not measured results; replace them with sourced or pilot data if you have it. The last two are measurable in the product today. Judges can only score what you show and explain.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It shows we know the path to production without claiming features we did not build.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strong. Tie back to the two chosen categories: the startup case is the wedge and the buyer; the technical case is the concurrency-safe, tested build. End on the one-line promise and thank the judges.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A70"/>
        </a:solidFill>
        <a:effectLst/>
      </p:bgPr>
    </p:bg>
    <p:spTree>
      <p:nvGrpSpPr>
        <p:cNvPr id="1" name=""/>
        <p:cNvGrpSpPr/>
        <p:nvPr/>
      </p:nvGrpSpPr>
      <p:grpSpPr/>
      <p:sp>
        <p:nvSpPr>
          <p:cNvPr id="2" name="Rectangle 1"/>
          <p:cNvSpPr/>
          <p:nvPr/>
        </p:nvSpPr>
        <p:spPr>
          <a:xfrm>
            <a:off x="0" y="4572000"/>
            <a:ext cx="12191695" cy="10972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515600" cy="1097280"/>
          </a:xfrm>
          <a:prstGeom prst="rect">
            <a:avLst/>
          </a:prstGeom>
          <a:noFill/>
        </p:spPr>
        <p:txBody>
          <a:bodyPr wrap="square" anchor="t" lIns="45720" rIns="45720" tIns="27432" bIns="27432">
            <a:spAutoFit/>
          </a:bodyPr>
          <a:lstStyle/>
          <a:p>
            <a:pPr algn="l">
              <a:spcAft>
                <a:spcPts val="600"/>
              </a:spcAft>
            </a:pPr>
            <a:r>
              <a:rPr sz="5400" b="1">
                <a:solidFill>
                  <a:srgbClr val="FFFFFF"/>
                </a:solidFill>
                <a:latin typeface="Calibri"/>
              </a:rPr>
              <a:t>LPL Delegation Assistant</a:t>
            </a:r>
          </a:p>
        </p:txBody>
      </p:sp>
      <p:sp>
        <p:nvSpPr>
          <p:cNvPr id="4" name="TextBox 3"/>
          <p:cNvSpPr txBox="1"/>
          <p:nvPr/>
        </p:nvSpPr>
        <p:spPr>
          <a:xfrm>
            <a:off x="731520" y="2560320"/>
            <a:ext cx="10515600" cy="1097280"/>
          </a:xfrm>
          <a:prstGeom prst="rect">
            <a:avLst/>
          </a:prstGeom>
          <a:noFill/>
        </p:spPr>
        <p:txBody>
          <a:bodyPr wrap="square" anchor="t" lIns="45720" rIns="45720" tIns="27432" bIns="27432">
            <a:spAutoFit/>
          </a:bodyPr>
          <a:lstStyle/>
          <a:p>
            <a:pPr algn="l">
              <a:spcAft>
                <a:spcPts val="600"/>
              </a:spcAft>
            </a:pPr>
            <a:r>
              <a:rPr sz="2600" b="0">
                <a:solidFill>
                  <a:srgbClr val="6CC24A"/>
                </a:solidFill>
                <a:latin typeface="Calibri"/>
              </a:rPr>
              <a:t>Delegate the paperwork. Keep the control. Prove the compliance.</a:t>
            </a:r>
          </a:p>
        </p:txBody>
      </p:sp>
      <p:sp>
        <p:nvSpPr>
          <p:cNvPr id="5" name="TextBox 4"/>
          <p:cNvSpPr txBox="1"/>
          <p:nvPr/>
        </p:nvSpPr>
        <p:spPr>
          <a:xfrm>
            <a:off x="731520" y="3840480"/>
            <a:ext cx="10515600" cy="457200"/>
          </a:xfrm>
          <a:prstGeom prst="rect">
            <a:avLst/>
          </a:prstGeom>
          <a:noFill/>
        </p:spPr>
        <p:txBody>
          <a:bodyPr wrap="square" anchor="t" lIns="45720" rIns="45720" tIns="27432" bIns="27432">
            <a:spAutoFit/>
          </a:bodyPr>
          <a:lstStyle/>
          <a:p>
            <a:pPr algn="l">
              <a:spcAft>
                <a:spcPts val="600"/>
              </a:spcAft>
            </a:pPr>
            <a:r>
              <a:rPr sz="1800" b="0">
                <a:solidFill>
                  <a:srgbClr val="FFFFFF"/>
                </a:solidFill>
                <a:latin typeface="Calibri"/>
              </a:rPr>
              <a:t>Team 2  ·  2026 LPL Financial University Hackathon</a:t>
            </a:r>
          </a:p>
        </p:txBody>
      </p:sp>
      <p:sp>
        <p:nvSpPr>
          <p:cNvPr id="6" name="TextBox 5"/>
          <p:cNvSpPr txBox="1"/>
          <p:nvPr/>
        </p:nvSpPr>
        <p:spPr>
          <a:xfrm>
            <a:off x="731520" y="4983480"/>
            <a:ext cx="10515600" cy="365760"/>
          </a:xfrm>
          <a:prstGeom prst="rect">
            <a:avLst/>
          </a:prstGeom>
          <a:noFill/>
        </p:spPr>
        <p:txBody>
          <a:bodyPr wrap="square" anchor="t" lIns="45720" rIns="45720" tIns="27432" bIns="27432">
            <a:spAutoFit/>
          </a:bodyPr>
          <a:lstStyle/>
          <a:p>
            <a:pPr algn="l">
              <a:spcAft>
                <a:spcPts val="600"/>
              </a:spcAft>
            </a:pPr>
            <a:r>
              <a:rPr sz="1400" b="1">
                <a:solidFill>
                  <a:srgbClr val="6CC24A"/>
                </a:solidFill>
                <a:latin typeface="Calibri"/>
              </a:rPr>
              <a:t>Our two award categories</a:t>
            </a:r>
          </a:p>
        </p:txBody>
      </p:sp>
      <p:sp>
        <p:nvSpPr>
          <p:cNvPr id="7" name="Rounded Rectangle 6"/>
          <p:cNvSpPr/>
          <p:nvPr/>
        </p:nvSpPr>
        <p:spPr>
          <a:xfrm>
            <a:off x="731520" y="5394960"/>
            <a:ext cx="3108960" cy="457200"/>
          </a:xfrm>
          <a:prstGeom prst="roundRect">
            <a:avLst>
              <a:gd name="adj" fmla="val 50000"/>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Startup We'd Buy Tomorrow</a:t>
            </a:r>
          </a:p>
        </p:txBody>
      </p:sp>
      <p:sp>
        <p:nvSpPr>
          <p:cNvPr id="8" name="Rounded Rectangle 7"/>
          <p:cNvSpPr/>
          <p:nvPr/>
        </p:nvSpPr>
        <p:spPr>
          <a:xfrm>
            <a:off x="4023360" y="5394960"/>
            <a:ext cx="3108960" cy="457200"/>
          </a:xfrm>
          <a:prstGeom prst="roundRect">
            <a:avLst>
              <a:gd name="adj" fmla="val 50000"/>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Best Technical Execution</a:t>
            </a:r>
          </a:p>
        </p:txBody>
      </p:sp>
      <p:sp>
        <p:nvSpPr>
          <p:cNvPr id="9" name="TextBox 8"/>
          <p:cNvSpPr txBox="1"/>
          <p:nvPr/>
        </p:nvSpPr>
        <p:spPr>
          <a:xfrm>
            <a:off x="7498079" y="5394960"/>
            <a:ext cx="4114800" cy="457200"/>
          </a:xfrm>
          <a:prstGeom prst="rect">
            <a:avLst/>
          </a:prstGeom>
          <a:noFill/>
        </p:spPr>
        <p:txBody>
          <a:bodyPr wrap="square" anchor="ctr" lIns="45720" rIns="45720" tIns="27432" bIns="27432">
            <a:spAutoFit/>
          </a:bodyPr>
          <a:lstStyle/>
          <a:p>
            <a:pPr algn="l">
              <a:spcAft>
                <a:spcPts val="600"/>
              </a:spcAft>
            </a:pPr>
            <a:r>
              <a:rPr sz="1400" b="0">
                <a:solidFill>
                  <a:srgbClr val="FFFFFF"/>
                </a:solidFill>
                <a:latin typeface="Calibri"/>
              </a:rPr>
              <a:t>Also judged: Best Use of AWS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692640" cy="1097280"/>
          </a:xfrm>
          <a:prstGeom prst="rect">
            <a:avLst/>
          </a:prstGeom>
          <a:noFill/>
        </p:spPr>
        <p:txBody>
          <a:bodyPr wrap="square" anchor="ctr" lIns="45720" rIns="45720" tIns="27432" bIns="27432">
            <a:spAutoFit/>
          </a:bodyPr>
          <a:lstStyle/>
          <a:p>
            <a:pPr algn="l">
              <a:spcAft>
                <a:spcPts val="600"/>
              </a:spcAft>
            </a:pPr>
            <a:r>
              <a:rPr sz="2800" b="1">
                <a:solidFill>
                  <a:srgbClr val="003A70"/>
                </a:solidFill>
                <a:latin typeface="Calibri"/>
              </a:rPr>
              <a:t>The problem: client paperwork eats advisor time, and every document is a compliance risk</a:t>
            </a:r>
          </a:p>
        </p:txBody>
      </p:sp>
      <p:sp>
        <p:nvSpPr>
          <p:cNvPr id="3" name="Rectangle 2"/>
          <p:cNvSpPr/>
          <p:nvPr/>
        </p:nvSpPr>
        <p:spPr>
          <a:xfrm>
            <a:off x="548640" y="1481328"/>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46920" y="411480"/>
            <a:ext cx="2194560" cy="365760"/>
          </a:xfrm>
          <a:prstGeom prst="roundRect">
            <a:avLst>
              <a:gd name="adj" fmla="val 50000"/>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Startup We'd Buy Tomorrow</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600"/>
              </a:spcAft>
            </a:pPr>
            <a:r>
              <a:rPr sz="1000" b="0">
                <a:solidFill>
                  <a:srgbClr val="5B6B7B"/>
                </a:solidFill>
                <a:latin typeface="Calibri"/>
              </a:rPr>
              <a:t>2</a:t>
            </a:r>
          </a:p>
        </p:txBody>
      </p:sp>
      <p:sp>
        <p:nvSpPr>
          <p:cNvPr id="7" name="TextBox 6"/>
          <p:cNvSpPr txBox="1"/>
          <p:nvPr/>
        </p:nvSpPr>
        <p:spPr>
          <a:xfrm>
            <a:off x="548640" y="1783080"/>
            <a:ext cx="5760720" cy="4206240"/>
          </a:xfrm>
          <a:prstGeom prst="rect">
            <a:avLst/>
          </a:prstGeom>
          <a:noFill/>
        </p:spPr>
        <p:txBody>
          <a:bodyPr wrap="square" anchor="t" lIns="45720" rIns="45720" tIns="27432" bIns="27432">
            <a:spAutoFit/>
          </a:bodyPr>
          <a:lstStyle/>
          <a:p>
            <a:pPr algn="l">
              <a:spcAft>
                <a:spcPts val="500"/>
              </a:spcAft>
            </a:pPr>
            <a:r>
              <a:rPr sz="1800" b="1">
                <a:solidFill>
                  <a:srgbClr val="0073CF"/>
                </a:solidFill>
                <a:latin typeface="Calibri"/>
              </a:rPr>
              <a:t>Who it affects</a:t>
            </a:r>
          </a:p>
          <a:p>
            <a:pPr algn="l">
              <a:spcAft>
                <a:spcPts val="500"/>
              </a:spcAft>
            </a:pPr>
            <a:r>
              <a:rPr sz="1600" b="0">
                <a:solidFill>
                  <a:srgbClr val="003A70"/>
                </a:solidFill>
                <a:latin typeface="Calibri"/>
              </a:rPr>
              <a:t>•  Advisors and the assistants who support them</a:t>
            </a:r>
          </a:p>
          <a:p>
            <a:pPr algn="l">
              <a:spcAft>
                <a:spcPts val="500"/>
              </a:spcAft>
            </a:pPr>
            <a:r>
              <a:rPr sz="1600" b="0">
                <a:solidFill>
                  <a:srgbClr val="003A70"/>
                </a:solidFill>
                <a:latin typeface="Calibri"/>
              </a:rPr>
              <a:t>•  Compliance principals who must review communications</a:t>
            </a:r>
          </a:p>
          <a:p>
            <a:pPr algn="l">
              <a:spcAft>
                <a:spcPts val="500"/>
              </a:spcAft>
            </a:pPr>
            <a:r>
              <a:rPr sz="1800" b="1">
                <a:solidFill>
                  <a:srgbClr val="0073CF"/>
                </a:solidFill>
                <a:latin typeface="Calibri"/>
              </a:rPr>
              <a:t>What happens today</a:t>
            </a:r>
          </a:p>
          <a:p>
            <a:pPr algn="l">
              <a:spcAft>
                <a:spcPts val="500"/>
              </a:spcAft>
            </a:pPr>
            <a:r>
              <a:rPr sz="1600" b="0">
                <a:solidFill>
                  <a:srgbClr val="003A70"/>
                </a:solidFill>
                <a:latin typeface="Calibri"/>
              </a:rPr>
              <a:t>•  Portfolio reviews, rebalancing memos and meeting prep are written by hand</a:t>
            </a:r>
          </a:p>
          <a:p>
            <a:pPr algn="l">
              <a:spcAft>
                <a:spcPts val="500"/>
              </a:spcAft>
            </a:pPr>
            <a:r>
              <a:rPr sz="1600" b="0">
                <a:solidFill>
                  <a:srgbClr val="003A70"/>
                </a:solidFill>
                <a:latin typeface="Calibri"/>
              </a:rPr>
              <a:t>•  Compliance review is manual and happens after the draft is written</a:t>
            </a:r>
          </a:p>
          <a:p>
            <a:pPr algn="l">
              <a:spcAft>
                <a:spcPts val="500"/>
              </a:spcAft>
            </a:pPr>
            <a:r>
              <a:rPr sz="1800" b="1">
                <a:solidFill>
                  <a:srgbClr val="0073CF"/>
                </a:solidFill>
                <a:latin typeface="Calibri"/>
              </a:rPr>
              <a:t>Why generic AI makes it worse</a:t>
            </a:r>
          </a:p>
          <a:p>
            <a:pPr algn="l">
              <a:spcAft>
                <a:spcPts val="500"/>
              </a:spcAft>
            </a:pPr>
            <a:r>
              <a:rPr sz="1600" b="0">
                <a:solidFill>
                  <a:srgbClr val="003A70"/>
                </a:solidFill>
                <a:latin typeface="Calibri"/>
              </a:rPr>
              <a:t>•  Free-form drafting can slip in guaranteed-return language or skip disclosures</a:t>
            </a:r>
          </a:p>
          <a:p>
            <a:pPr algn="l">
              <a:spcAft>
                <a:spcPts val="500"/>
              </a:spcAft>
            </a:pPr>
            <a:r>
              <a:rPr sz="1600" b="0">
                <a:solidFill>
                  <a:srgbClr val="003A70"/>
                </a:solidFill>
                <a:latin typeface="Calibri"/>
              </a:rPr>
              <a:t>•  No proof of who reviewed what, or what the AI changed</a:t>
            </a:r>
          </a:p>
        </p:txBody>
      </p:sp>
      <p:sp>
        <p:nvSpPr>
          <p:cNvPr id="8" name="Rounded Rectangle 7"/>
          <p:cNvSpPr/>
          <p:nvPr/>
        </p:nvSpPr>
        <p:spPr>
          <a:xfrm>
            <a:off x="6675120" y="1783080"/>
            <a:ext cx="4937760" cy="429768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1874519"/>
            <a:ext cx="4572000" cy="4114800"/>
          </a:xfrm>
          <a:prstGeom prst="rect">
            <a:avLst/>
          </a:prstGeom>
          <a:noFill/>
        </p:spPr>
        <p:txBody>
          <a:bodyPr wrap="square" anchor="t" lIns="45720" rIns="45720" tIns="27432" bIns="27432">
            <a:spAutoFit/>
          </a:bodyPr>
          <a:lstStyle/>
          <a:p>
            <a:pPr algn="l">
              <a:spcAft>
                <a:spcPts val="600"/>
              </a:spcAft>
            </a:pPr>
            <a:r>
              <a:rPr sz="1800" b="1">
                <a:solidFill>
                  <a:srgbClr val="003A70"/>
                </a:solidFill>
                <a:latin typeface="Calibri"/>
              </a:rPr>
              <a:t>The rules do not go away</a:t>
            </a:r>
          </a:p>
          <a:p>
            <a:pPr algn="l">
              <a:spcAft>
                <a:spcPts val="600"/>
              </a:spcAft>
            </a:pPr>
            <a:r>
              <a:rPr sz="1500" b="0">
                <a:solidFill>
                  <a:srgbClr val="003A70"/>
                </a:solidFill>
                <a:latin typeface="Calibri"/>
              </a:rPr>
              <a:t>•  FINRA Rule 2210: communications with the public must be fair, balanced and not misleading</a:t>
            </a:r>
          </a:p>
          <a:p>
            <a:pPr algn="l">
              <a:spcAft>
                <a:spcPts val="600"/>
              </a:spcAft>
            </a:pPr>
            <a:r>
              <a:rPr sz="1500" b="0">
                <a:solidFill>
                  <a:srgbClr val="003A70"/>
                </a:solidFill>
                <a:latin typeface="Calibri"/>
              </a:rPr>
              <a:t>•  Many client communications must be reviewed by a registered principal before use</a:t>
            </a:r>
          </a:p>
          <a:p>
            <a:pPr algn="l">
              <a:spcAft>
                <a:spcPts val="600"/>
              </a:spcAft>
            </a:pPr>
            <a:r>
              <a:rPr sz="1500" b="0">
                <a:solidFill>
                  <a:srgbClr val="003A70"/>
                </a:solidFill>
                <a:latin typeface="Calibri"/>
              </a:rPr>
              <a:t>•  Regulation Best Interest: recommendations must serve the client's best interest</a:t>
            </a:r>
          </a:p>
          <a:p>
            <a:pPr algn="l">
              <a:spcAft>
                <a:spcPts val="600"/>
              </a:spcAft>
            </a:pPr>
            <a:r>
              <a:rPr sz="1500" b="0">
                <a:solidFill>
                  <a:srgbClr val="003A70"/>
                </a:solidFill>
                <a:latin typeface="Calibri"/>
              </a:rPr>
              <a:t>•  Firms must keep records that show how communications were reviewed</a:t>
            </a:r>
          </a:p>
          <a:p>
            <a:pPr algn="l">
              <a:spcAft>
                <a:spcPts val="600"/>
              </a:spcAft>
            </a:pPr>
            <a:r>
              <a:rPr sz="1800" b="1">
                <a:solidFill>
                  <a:srgbClr val="B8510D"/>
                </a:solidFill>
                <a:latin typeface="Calibri"/>
              </a:rPr>
              <a:t>The gap</a:t>
            </a:r>
          </a:p>
          <a:p>
            <a:pPr algn="l">
              <a:spcAft>
                <a:spcPts val="600"/>
              </a:spcAft>
            </a:pPr>
            <a:r>
              <a:rPr sz="1500" b="0">
                <a:solidFill>
                  <a:srgbClr val="003A70"/>
                </a:solidFill>
                <a:latin typeface="Calibri"/>
              </a:rPr>
              <a:t>•  Teams want AI speed but cannot accept AI without supervision and records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692640" cy="1097280"/>
          </a:xfrm>
          <a:prstGeom prst="rect">
            <a:avLst/>
          </a:prstGeom>
          <a:noFill/>
        </p:spPr>
        <p:txBody>
          <a:bodyPr wrap="square" anchor="ctr" lIns="45720" rIns="45720" tIns="27432" bIns="27432">
            <a:spAutoFit/>
          </a:bodyPr>
          <a:lstStyle/>
          <a:p>
            <a:pPr algn="l">
              <a:spcAft>
                <a:spcPts val="600"/>
              </a:spcAft>
            </a:pPr>
            <a:r>
              <a:rPr sz="2800" b="1">
                <a:solidFill>
                  <a:srgbClr val="003A70"/>
                </a:solidFill>
                <a:latin typeface="Calibri"/>
              </a:rPr>
              <a:t>Who it is for: three roles, one workflow</a:t>
            </a:r>
          </a:p>
        </p:txBody>
      </p:sp>
      <p:sp>
        <p:nvSpPr>
          <p:cNvPr id="3" name="Rectangle 2"/>
          <p:cNvSpPr/>
          <p:nvPr/>
        </p:nvSpPr>
        <p:spPr>
          <a:xfrm>
            <a:off x="548640" y="1481328"/>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46920" y="411480"/>
            <a:ext cx="2194560" cy="365760"/>
          </a:xfrm>
          <a:prstGeom prst="roundRect">
            <a:avLst>
              <a:gd name="adj" fmla="val 50000"/>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Startup We'd Buy Tomorrow</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600"/>
              </a:spcAft>
            </a:pPr>
            <a:r>
              <a:rPr sz="1000" b="0">
                <a:solidFill>
                  <a:srgbClr val="5B6B7B"/>
                </a:solidFill>
                <a:latin typeface="Calibri"/>
              </a:rPr>
              <a:t>3</a:t>
            </a:r>
          </a:p>
        </p:txBody>
      </p:sp>
      <p:sp>
        <p:nvSpPr>
          <p:cNvPr id="7" name="Rounded Rectangle 6"/>
          <p:cNvSpPr/>
          <p:nvPr/>
        </p:nvSpPr>
        <p:spPr>
          <a:xfrm>
            <a:off x="548640" y="1828800"/>
            <a:ext cx="3566160" cy="73152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Assistant</a:t>
            </a:r>
          </a:p>
        </p:txBody>
      </p:sp>
      <p:sp>
        <p:nvSpPr>
          <p:cNvPr id="8" name="Rounded Rectangle 7"/>
          <p:cNvSpPr/>
          <p:nvPr/>
        </p:nvSpPr>
        <p:spPr>
          <a:xfrm>
            <a:off x="548640" y="2606040"/>
            <a:ext cx="3566160" cy="233172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697480"/>
            <a:ext cx="3291840" cy="2194560"/>
          </a:xfrm>
          <a:prstGeom prst="rect">
            <a:avLst/>
          </a:prstGeom>
          <a:noFill/>
        </p:spPr>
        <p:txBody>
          <a:bodyPr wrap="square" anchor="t" lIns="45720" rIns="45720" tIns="27432" bIns="27432">
            <a:spAutoFit/>
          </a:bodyPr>
          <a:lstStyle/>
          <a:p>
            <a:pPr algn="l">
              <a:spcAft>
                <a:spcPts val="800"/>
              </a:spcAft>
            </a:pPr>
            <a:r>
              <a:rPr sz="1500" b="0">
                <a:solidFill>
                  <a:srgbClr val="003A70"/>
                </a:solidFill>
                <a:latin typeface="Calibri"/>
              </a:rPr>
              <a:t>•  Starts the work</a:t>
            </a:r>
          </a:p>
          <a:p>
            <a:pPr algn="l">
              <a:spcAft>
                <a:spcPts val="800"/>
              </a:spcAft>
            </a:pPr>
            <a:r>
              <a:rPr sz="1500" b="0">
                <a:solidFill>
                  <a:srgbClr val="003A70"/>
                </a:solidFill>
                <a:latin typeface="Calibri"/>
              </a:rPr>
              <a:t>•  Needs: a fast first draft and a clear hand-off</a:t>
            </a:r>
          </a:p>
          <a:p>
            <a:pPr algn="l">
              <a:spcAft>
                <a:spcPts val="800"/>
              </a:spcAft>
            </a:pPr>
            <a:r>
              <a:rPr sz="1500" b="0">
                <a:solidFill>
                  <a:srgbClr val="003A70"/>
                </a:solidFill>
                <a:latin typeface="Calibri"/>
              </a:rPr>
              <a:t>•  Can draft, edit and ask the AI to revise</a:t>
            </a:r>
          </a:p>
        </p:txBody>
      </p:sp>
      <p:sp>
        <p:nvSpPr>
          <p:cNvPr id="10" name="Rounded Rectangle 9"/>
          <p:cNvSpPr/>
          <p:nvPr/>
        </p:nvSpPr>
        <p:spPr>
          <a:xfrm>
            <a:off x="4343400" y="1828800"/>
            <a:ext cx="3566160" cy="731520"/>
          </a:xfrm>
          <a:prstGeom prst="roundRect">
            <a:avLst>
              <a:gd name="adj" fmla="val 6000"/>
            </a:avLst>
          </a:prstGeom>
          <a:solidFill>
            <a:srgbClr val="003A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Advisor</a:t>
            </a:r>
          </a:p>
        </p:txBody>
      </p:sp>
      <p:sp>
        <p:nvSpPr>
          <p:cNvPr id="11" name="Rounded Rectangle 10"/>
          <p:cNvSpPr/>
          <p:nvPr/>
        </p:nvSpPr>
        <p:spPr>
          <a:xfrm>
            <a:off x="4343400" y="2606040"/>
            <a:ext cx="3566160" cy="233172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697480"/>
            <a:ext cx="3291840" cy="2194560"/>
          </a:xfrm>
          <a:prstGeom prst="rect">
            <a:avLst/>
          </a:prstGeom>
          <a:noFill/>
        </p:spPr>
        <p:txBody>
          <a:bodyPr wrap="square" anchor="t" lIns="45720" rIns="45720" tIns="27432" bIns="27432">
            <a:spAutoFit/>
          </a:bodyPr>
          <a:lstStyle/>
          <a:p>
            <a:pPr algn="l">
              <a:spcAft>
                <a:spcPts val="800"/>
              </a:spcAft>
            </a:pPr>
            <a:r>
              <a:rPr sz="1500" b="0">
                <a:solidFill>
                  <a:srgbClr val="003A70"/>
                </a:solidFill>
                <a:latin typeface="Calibri"/>
              </a:rPr>
              <a:t>•  Owns the client relationship</a:t>
            </a:r>
          </a:p>
          <a:p>
            <a:pPr algn="l">
              <a:spcAft>
                <a:spcPts val="800"/>
              </a:spcAft>
            </a:pPr>
            <a:r>
              <a:rPr sz="1500" b="0">
                <a:solidFill>
                  <a:srgbClr val="003A70"/>
                </a:solidFill>
                <a:latin typeface="Calibri"/>
              </a:rPr>
              <a:t>•  Needs: control, edits, accountability</a:t>
            </a:r>
          </a:p>
          <a:p>
            <a:pPr algn="l">
              <a:spcAft>
                <a:spcPts val="800"/>
              </a:spcAft>
            </a:pPr>
            <a:r>
              <a:rPr sz="1500" b="0">
                <a:solidFill>
                  <a:srgbClr val="003A70"/>
                </a:solidFill>
                <a:latin typeface="Calibri"/>
              </a:rPr>
              <a:t>•  Reviews the final text and approves it</a:t>
            </a:r>
          </a:p>
        </p:txBody>
      </p:sp>
      <p:sp>
        <p:nvSpPr>
          <p:cNvPr id="13" name="Rounded Rectangle 12"/>
          <p:cNvSpPr/>
          <p:nvPr/>
        </p:nvSpPr>
        <p:spPr>
          <a:xfrm>
            <a:off x="8138160" y="1828800"/>
            <a:ext cx="3566160" cy="731520"/>
          </a:xfrm>
          <a:prstGeom prst="roundRect">
            <a:avLst>
              <a:gd name="adj" fmla="val 6000"/>
            </a:avLst>
          </a:prstGeom>
          <a:solidFill>
            <a:srgbClr val="2E8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Compliance Principal</a:t>
            </a:r>
          </a:p>
        </p:txBody>
      </p:sp>
      <p:sp>
        <p:nvSpPr>
          <p:cNvPr id="14" name="Rounded Rectangle 13"/>
          <p:cNvSpPr/>
          <p:nvPr/>
        </p:nvSpPr>
        <p:spPr>
          <a:xfrm>
            <a:off x="8138160" y="2606040"/>
            <a:ext cx="3566160" cy="233172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697480"/>
            <a:ext cx="3291840" cy="2194560"/>
          </a:xfrm>
          <a:prstGeom prst="rect">
            <a:avLst/>
          </a:prstGeom>
          <a:noFill/>
        </p:spPr>
        <p:txBody>
          <a:bodyPr wrap="square" anchor="t" lIns="45720" rIns="45720" tIns="27432" bIns="27432">
            <a:spAutoFit/>
          </a:bodyPr>
          <a:lstStyle/>
          <a:p>
            <a:pPr algn="l">
              <a:spcAft>
                <a:spcPts val="800"/>
              </a:spcAft>
            </a:pPr>
            <a:r>
              <a:rPr sz="1500" b="0">
                <a:solidFill>
                  <a:srgbClr val="003A70"/>
                </a:solidFill>
                <a:latin typeface="Calibri"/>
              </a:rPr>
              <a:t>•  Supervises communications</a:t>
            </a:r>
          </a:p>
          <a:p>
            <a:pPr algn="l">
              <a:spcAft>
                <a:spcPts val="800"/>
              </a:spcAft>
            </a:pPr>
            <a:r>
              <a:rPr sz="1500" b="0">
                <a:solidFill>
                  <a:srgbClr val="003A70"/>
                </a:solidFill>
                <a:latin typeface="Calibri"/>
              </a:rPr>
              <a:t>•  Needs: risky drafts first, proof of review</a:t>
            </a:r>
          </a:p>
          <a:p>
            <a:pPr algn="l">
              <a:spcAft>
                <a:spcPts val="800"/>
              </a:spcAft>
            </a:pPr>
            <a:r>
              <a:rPr sz="1500" b="0">
                <a:solidFill>
                  <a:srgbClr val="003A70"/>
                </a:solidFill>
                <a:latin typeface="Calibri"/>
              </a:rPr>
              <a:t>•  Approves for release or returns with a reason</a:t>
            </a:r>
          </a:p>
        </p:txBody>
      </p:sp>
      <p:sp>
        <p:nvSpPr>
          <p:cNvPr id="16" name="Rounded Rectangle 15"/>
          <p:cNvSpPr/>
          <p:nvPr/>
        </p:nvSpPr>
        <p:spPr>
          <a:xfrm>
            <a:off x="548640" y="5257800"/>
            <a:ext cx="11018520" cy="914400"/>
          </a:xfrm>
          <a:prstGeom prst="roundRect">
            <a:avLst>
              <a:gd name="adj" fmla="val 6000"/>
            </a:avLst>
          </a:prstGeom>
          <a:solidFill>
            <a:srgbClr val="003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303520"/>
            <a:ext cx="10698480" cy="822960"/>
          </a:xfrm>
          <a:prstGeom prst="rect">
            <a:avLst/>
          </a:prstGeom>
          <a:noFill/>
        </p:spPr>
        <p:txBody>
          <a:bodyPr wrap="square" anchor="ctr" lIns="45720" rIns="45720" tIns="27432" bIns="27432">
            <a:spAutoFit/>
          </a:bodyPr>
          <a:lstStyle/>
          <a:p>
            <a:pPr algn="l">
              <a:spcAft>
                <a:spcPts val="600"/>
              </a:spcAft>
            </a:pPr>
            <a:r>
              <a:rPr sz="1700" b="1">
                <a:solidFill>
                  <a:srgbClr val="FFFFFF"/>
                </a:solidFill>
                <a:latin typeface="Calibri"/>
              </a:rPr>
              <a:t>Buyer: broker-dealer and RIA compliance and operations leaders. They want AI productivity without losing supervision.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692640" cy="1097280"/>
          </a:xfrm>
          <a:prstGeom prst="rect">
            <a:avLst/>
          </a:prstGeom>
          <a:noFill/>
        </p:spPr>
        <p:txBody>
          <a:bodyPr wrap="square" anchor="ctr" lIns="45720" rIns="45720" tIns="27432" bIns="27432">
            <a:spAutoFit/>
          </a:bodyPr>
          <a:lstStyle/>
          <a:p>
            <a:pPr algn="l">
              <a:spcAft>
                <a:spcPts val="600"/>
              </a:spcAft>
            </a:pPr>
            <a:r>
              <a:rPr sz="2800" b="1">
                <a:solidFill>
                  <a:srgbClr val="003A70"/>
                </a:solidFill>
                <a:latin typeface="Calibri"/>
              </a:rPr>
              <a:t>The solution: AI drafts, humans stay accountable, the system proves it</a:t>
            </a:r>
          </a:p>
        </p:txBody>
      </p:sp>
      <p:sp>
        <p:nvSpPr>
          <p:cNvPr id="3" name="Rectangle 2"/>
          <p:cNvSpPr/>
          <p:nvPr/>
        </p:nvSpPr>
        <p:spPr>
          <a:xfrm>
            <a:off x="548640" y="1481328"/>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46920" y="411480"/>
            <a:ext cx="2194560" cy="365760"/>
          </a:xfrm>
          <a:prstGeom prst="roundRect">
            <a:avLst>
              <a:gd name="adj" fmla="val 50000"/>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Startup We'd Buy Tomorrow</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600"/>
              </a:spcAft>
            </a:pPr>
            <a:r>
              <a:rPr sz="1000" b="0">
                <a:solidFill>
                  <a:srgbClr val="5B6B7B"/>
                </a:solidFill>
                <a:latin typeface="Calibri"/>
              </a:rPr>
              <a:t>4</a:t>
            </a:r>
          </a:p>
        </p:txBody>
      </p:sp>
      <p:sp>
        <p:nvSpPr>
          <p:cNvPr id="7" name="Pentagon 6"/>
          <p:cNvSpPr/>
          <p:nvPr/>
        </p:nvSpPr>
        <p:spPr>
          <a:xfrm>
            <a:off x="457200" y="1920240"/>
            <a:ext cx="2057400" cy="1188720"/>
          </a:xfrm>
          <a:prstGeom prst="homePlate">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rIns="182880"/>
          <a:lstStyle/>
          <a:p>
            <a:pPr algn="ctr"/>
            <a:r>
              <a:rPr sz="1300" b="1">
                <a:solidFill>
                  <a:srgbClr val="FFFFFF"/>
                </a:solidFill>
                <a:latin typeface="Calibri"/>
              </a:rPr>
              <a:t>Delegate</a:t>
            </a:r>
          </a:p>
          <a:p>
            <a:pPr algn="ctr"/>
            <a:r>
              <a:rPr sz="1300" b="1">
                <a:solidFill>
                  <a:srgbClr val="FFFFFF"/>
                </a:solidFill>
                <a:latin typeface="Calibri"/>
              </a:rPr>
              <a:t>a task</a:t>
            </a:r>
          </a:p>
        </p:txBody>
      </p:sp>
      <p:sp>
        <p:nvSpPr>
          <p:cNvPr id="8" name="Chevron 7"/>
          <p:cNvSpPr/>
          <p:nvPr/>
        </p:nvSpPr>
        <p:spPr>
          <a:xfrm>
            <a:off x="2377440" y="1920240"/>
            <a:ext cx="2057400" cy="1188720"/>
          </a:xfrm>
          <a:prstGeom prst="chevron">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rIns="182880"/>
          <a:lstStyle/>
          <a:p>
            <a:pPr algn="ctr"/>
            <a:r>
              <a:rPr sz="1300" b="1">
                <a:solidFill>
                  <a:srgbClr val="FFFFFF"/>
                </a:solidFill>
                <a:latin typeface="Calibri"/>
              </a:rPr>
              <a:t>AI drafts</a:t>
            </a:r>
          </a:p>
          <a:p>
            <a:pPr algn="ctr"/>
            <a:r>
              <a:rPr sz="1300" b="1">
                <a:solidFill>
                  <a:srgbClr val="FFFFFF"/>
                </a:solidFill>
                <a:latin typeface="Calibri"/>
              </a:rPr>
              <a:t>(Amazon Bedrock)</a:t>
            </a:r>
          </a:p>
        </p:txBody>
      </p:sp>
      <p:sp>
        <p:nvSpPr>
          <p:cNvPr id="9" name="Chevron 8"/>
          <p:cNvSpPr/>
          <p:nvPr/>
        </p:nvSpPr>
        <p:spPr>
          <a:xfrm>
            <a:off x="4297680" y="1920240"/>
            <a:ext cx="2057400" cy="1188720"/>
          </a:xfrm>
          <a:prstGeom prst="chevron">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rIns="182880"/>
          <a:lstStyle/>
          <a:p>
            <a:pPr algn="ctr"/>
            <a:r>
              <a:rPr sz="1300" b="1">
                <a:solidFill>
                  <a:srgbClr val="FFFFFF"/>
                </a:solidFill>
                <a:latin typeface="Calibri"/>
              </a:rPr>
              <a:t>Automated</a:t>
            </a:r>
          </a:p>
          <a:p>
            <a:pPr algn="ctr"/>
            <a:r>
              <a:rPr sz="1300" b="1">
                <a:solidFill>
                  <a:srgbClr val="FFFFFF"/>
                </a:solidFill>
                <a:latin typeface="Calibri"/>
              </a:rPr>
              <a:t>compliance checks</a:t>
            </a:r>
          </a:p>
        </p:txBody>
      </p:sp>
      <p:sp>
        <p:nvSpPr>
          <p:cNvPr id="10" name="Chevron 9"/>
          <p:cNvSpPr/>
          <p:nvPr/>
        </p:nvSpPr>
        <p:spPr>
          <a:xfrm>
            <a:off x="6217920" y="1920240"/>
            <a:ext cx="2057400" cy="1188720"/>
          </a:xfrm>
          <a:prstGeom prst="chevron">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rIns="182880"/>
          <a:lstStyle/>
          <a:p>
            <a:pPr algn="ctr"/>
            <a:r>
              <a:rPr sz="1300" b="1">
                <a:solidFill>
                  <a:srgbClr val="FFFFFF"/>
                </a:solidFill>
                <a:latin typeface="Calibri"/>
              </a:rPr>
              <a:t>Advisor</a:t>
            </a:r>
          </a:p>
          <a:p>
            <a:pPr algn="ctr"/>
            <a:r>
              <a:rPr sz="1300" b="1">
                <a:solidFill>
                  <a:srgbClr val="FFFFFF"/>
                </a:solidFill>
                <a:latin typeface="Calibri"/>
              </a:rPr>
              <a:t>approves</a:t>
            </a:r>
          </a:p>
        </p:txBody>
      </p:sp>
      <p:sp>
        <p:nvSpPr>
          <p:cNvPr id="11" name="Chevron 10"/>
          <p:cNvSpPr/>
          <p:nvPr/>
        </p:nvSpPr>
        <p:spPr>
          <a:xfrm>
            <a:off x="8138160" y="1920240"/>
            <a:ext cx="2057400" cy="1188720"/>
          </a:xfrm>
          <a:prstGeom prst="chevron">
            <a:avLst/>
          </a:prstGeom>
          <a:solidFill>
            <a:srgbClr val="2E8B3A"/>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rIns="182880"/>
          <a:lstStyle/>
          <a:p>
            <a:pPr algn="ctr"/>
            <a:r>
              <a:rPr sz="1300" b="1">
                <a:solidFill>
                  <a:srgbClr val="FFFFFF"/>
                </a:solidFill>
                <a:latin typeface="Calibri"/>
              </a:rPr>
              <a:t>Principal</a:t>
            </a:r>
          </a:p>
          <a:p>
            <a:pPr algn="ctr"/>
            <a:r>
              <a:rPr sz="1300" b="1">
                <a:solidFill>
                  <a:srgbClr val="FFFFFF"/>
                </a:solidFill>
                <a:latin typeface="Calibri"/>
              </a:rPr>
              <a:t>approves</a:t>
            </a:r>
          </a:p>
        </p:txBody>
      </p:sp>
      <p:sp>
        <p:nvSpPr>
          <p:cNvPr id="12" name="Chevron 11"/>
          <p:cNvSpPr/>
          <p:nvPr/>
        </p:nvSpPr>
        <p:spPr>
          <a:xfrm>
            <a:off x="10058400" y="1920240"/>
            <a:ext cx="2057400" cy="1188720"/>
          </a:xfrm>
          <a:prstGeom prst="chevron">
            <a:avLst/>
          </a:prstGeom>
          <a:solidFill>
            <a:srgbClr val="2E8B3A"/>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rIns="182880"/>
          <a:lstStyle/>
          <a:p>
            <a:pPr algn="ctr"/>
            <a:r>
              <a:rPr sz="1300" b="1">
                <a:solidFill>
                  <a:srgbClr val="FFFFFF"/>
                </a:solidFill>
                <a:latin typeface="Calibri"/>
              </a:rPr>
              <a:t>Tamper-evident</a:t>
            </a:r>
          </a:p>
          <a:p>
            <a:pPr algn="ctr"/>
            <a:r>
              <a:rPr sz="1300" b="1">
                <a:solidFill>
                  <a:srgbClr val="FFFFFF"/>
                </a:solidFill>
                <a:latin typeface="Calibri"/>
              </a:rPr>
              <a:t>record</a:t>
            </a:r>
          </a:p>
        </p:txBody>
      </p:sp>
      <p:sp>
        <p:nvSpPr>
          <p:cNvPr id="13" name="TextBox 12"/>
          <p:cNvSpPr txBox="1"/>
          <p:nvPr/>
        </p:nvSpPr>
        <p:spPr>
          <a:xfrm>
            <a:off x="548640" y="3474720"/>
            <a:ext cx="11064240" cy="2743200"/>
          </a:xfrm>
          <a:prstGeom prst="rect">
            <a:avLst/>
          </a:prstGeom>
          <a:noFill/>
        </p:spPr>
        <p:txBody>
          <a:bodyPr wrap="square" anchor="t" lIns="45720" rIns="45720" tIns="27432" bIns="27432">
            <a:spAutoFit/>
          </a:bodyPr>
          <a:lstStyle/>
          <a:p>
            <a:pPr algn="l">
              <a:spcAft>
                <a:spcPts val="1000"/>
              </a:spcAft>
            </a:pPr>
            <a:r>
              <a:rPr sz="1900" b="0">
                <a:solidFill>
                  <a:srgbClr val="003A70"/>
                </a:solidFill>
                <a:latin typeface="Calibri"/>
              </a:rPr>
              <a:t>•  A draft cannot move forward while it has a blocking compliance finding</a:t>
            </a:r>
          </a:p>
          <a:p>
            <a:pPr algn="l">
              <a:spcAft>
                <a:spcPts val="1000"/>
              </a:spcAft>
            </a:pPr>
            <a:r>
              <a:rPr sz="1900" b="0">
                <a:solidFill>
                  <a:srgbClr val="003A70"/>
                </a:solidFill>
                <a:latin typeface="Calibri"/>
              </a:rPr>
              <a:t>•  Two human sign-offs before release: the advisor, then a compliance principal</a:t>
            </a:r>
          </a:p>
          <a:p>
            <a:pPr algn="l">
              <a:spcAft>
                <a:spcPts val="1000"/>
              </a:spcAft>
            </a:pPr>
            <a:r>
              <a:rPr sz="1900" b="0">
                <a:solidFill>
                  <a:srgbClr val="003A70"/>
                </a:solidFill>
                <a:latin typeface="Calibri"/>
              </a:rPr>
              <a:t>•  Every step is recorded with the real user, the compliance result and a hash that links it to the previous record</a:t>
            </a:r>
          </a:p>
          <a:p>
            <a:pPr algn="l">
              <a:spcAft>
                <a:spcPts val="1000"/>
              </a:spcAft>
            </a:pPr>
            <a:r>
              <a:rPr sz="1900" b="0">
                <a:solidFill>
                  <a:srgbClr val="003A70"/>
                </a:solidFill>
                <a:latin typeface="Calibri"/>
              </a:rPr>
              <a:t>•  Built on AWS: Bedrock for drafting, DynamoDB for shared state, EC2 for hosting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692640" cy="1097280"/>
          </a:xfrm>
          <a:prstGeom prst="rect">
            <a:avLst/>
          </a:prstGeom>
          <a:noFill/>
        </p:spPr>
        <p:txBody>
          <a:bodyPr wrap="square" anchor="ctr" lIns="45720" rIns="45720" tIns="27432" bIns="27432">
            <a:spAutoFit/>
          </a:bodyPr>
          <a:lstStyle/>
          <a:p>
            <a:pPr algn="l">
              <a:spcAft>
                <a:spcPts val="600"/>
              </a:spcAft>
            </a:pPr>
            <a:r>
              <a:rPr sz="2800" b="1">
                <a:solidFill>
                  <a:srgbClr val="003A70"/>
                </a:solidFill>
                <a:latin typeface="Calibri"/>
              </a:rPr>
              <a:t>Demo: one document, three people, one verified record</a:t>
            </a:r>
          </a:p>
        </p:txBody>
      </p:sp>
      <p:sp>
        <p:nvSpPr>
          <p:cNvPr id="3" name="Rectangle 2"/>
          <p:cNvSpPr/>
          <p:nvPr/>
        </p:nvSpPr>
        <p:spPr>
          <a:xfrm>
            <a:off x="548640" y="1481328"/>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46920" y="411480"/>
            <a:ext cx="2194560" cy="365760"/>
          </a:xfrm>
          <a:prstGeom prst="roundRect">
            <a:avLst>
              <a:gd name="adj" fmla="val 50000"/>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Best Technical Execution</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600"/>
              </a:spcAft>
            </a:pPr>
            <a:r>
              <a:rPr sz="1000" b="0">
                <a:solidFill>
                  <a:srgbClr val="5B6B7B"/>
                </a:solidFill>
                <a:latin typeface="Calibri"/>
              </a:rPr>
              <a:t>5</a:t>
            </a:r>
          </a:p>
        </p:txBody>
      </p:sp>
      <p:sp>
        <p:nvSpPr>
          <p:cNvPr id="7" name="Rounded Rectangle 6"/>
          <p:cNvSpPr/>
          <p:nvPr/>
        </p:nvSpPr>
        <p:spPr>
          <a:xfrm>
            <a:off x="548640" y="1828800"/>
            <a:ext cx="640080" cy="64008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a:solidFill>
                  <a:srgbClr val="FFFFFF"/>
                </a:solidFill>
                <a:latin typeface="Calibri"/>
              </a:rPr>
              <a:t>1</a:t>
            </a:r>
          </a:p>
        </p:txBody>
      </p:sp>
      <p:sp>
        <p:nvSpPr>
          <p:cNvPr id="8" name="TextBox 7"/>
          <p:cNvSpPr txBox="1"/>
          <p:nvPr/>
        </p:nvSpPr>
        <p:spPr>
          <a:xfrm>
            <a:off x="1371600" y="1828800"/>
            <a:ext cx="6583680" cy="731520"/>
          </a:xfrm>
          <a:prstGeom prst="rect">
            <a:avLst/>
          </a:prstGeom>
          <a:noFill/>
        </p:spPr>
        <p:txBody>
          <a:bodyPr wrap="square" anchor="ctr" lIns="45720" rIns="45720" tIns="27432" bIns="27432">
            <a:spAutoFit/>
          </a:bodyPr>
          <a:lstStyle/>
          <a:p>
            <a:pPr algn="l">
              <a:spcAft>
                <a:spcPts val="600"/>
              </a:spcAft>
            </a:pPr>
            <a:r>
              <a:rPr sz="1600" b="0">
                <a:solidFill>
                  <a:srgbClr val="003A70"/>
                </a:solidFill>
                <a:latin typeface="Calibri"/>
              </a:rPr>
              <a:t>Assistant signs in, picks a client and a task, generates a draft</a:t>
            </a:r>
          </a:p>
        </p:txBody>
      </p:sp>
      <p:sp>
        <p:nvSpPr>
          <p:cNvPr id="9" name="Rounded Rectangle 8"/>
          <p:cNvSpPr/>
          <p:nvPr/>
        </p:nvSpPr>
        <p:spPr>
          <a:xfrm>
            <a:off x="548640" y="2697480"/>
            <a:ext cx="640080" cy="64008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a:solidFill>
                  <a:srgbClr val="FFFFFF"/>
                </a:solidFill>
                <a:latin typeface="Calibri"/>
              </a:rPr>
              <a:t>2</a:t>
            </a:r>
          </a:p>
        </p:txBody>
      </p:sp>
      <p:sp>
        <p:nvSpPr>
          <p:cNvPr id="10" name="TextBox 9"/>
          <p:cNvSpPr txBox="1"/>
          <p:nvPr/>
        </p:nvSpPr>
        <p:spPr>
          <a:xfrm>
            <a:off x="1371600" y="2697480"/>
            <a:ext cx="6583680" cy="731520"/>
          </a:xfrm>
          <a:prstGeom prst="rect">
            <a:avLst/>
          </a:prstGeom>
          <a:noFill/>
        </p:spPr>
        <p:txBody>
          <a:bodyPr wrap="square" anchor="ctr" lIns="45720" rIns="45720" tIns="27432" bIns="27432">
            <a:spAutoFit/>
          </a:bodyPr>
          <a:lstStyle/>
          <a:p>
            <a:pPr algn="l">
              <a:spcAft>
                <a:spcPts val="600"/>
              </a:spcAft>
            </a:pPr>
            <a:r>
              <a:rPr sz="1600" b="0">
                <a:solidFill>
                  <a:srgbClr val="003A70"/>
                </a:solidFill>
                <a:latin typeface="Calibri"/>
              </a:rPr>
              <a:t>Compliance checks run instantly; a 'guaranteed returns' edit is BLOCKED with the rule and citation</a:t>
            </a:r>
          </a:p>
        </p:txBody>
      </p:sp>
      <p:sp>
        <p:nvSpPr>
          <p:cNvPr id="11" name="Rounded Rectangle 10"/>
          <p:cNvSpPr/>
          <p:nvPr/>
        </p:nvSpPr>
        <p:spPr>
          <a:xfrm>
            <a:off x="548640" y="3566160"/>
            <a:ext cx="640080" cy="64008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a:solidFill>
                  <a:srgbClr val="FFFFFF"/>
                </a:solidFill>
                <a:latin typeface="Calibri"/>
              </a:rPr>
              <a:t>3</a:t>
            </a:r>
          </a:p>
        </p:txBody>
      </p:sp>
      <p:sp>
        <p:nvSpPr>
          <p:cNvPr id="12" name="TextBox 11"/>
          <p:cNvSpPr txBox="1"/>
          <p:nvPr/>
        </p:nvSpPr>
        <p:spPr>
          <a:xfrm>
            <a:off x="1371600" y="3566160"/>
            <a:ext cx="6583680" cy="731520"/>
          </a:xfrm>
          <a:prstGeom prst="rect">
            <a:avLst/>
          </a:prstGeom>
          <a:noFill/>
        </p:spPr>
        <p:txBody>
          <a:bodyPr wrap="square" anchor="ctr" lIns="45720" rIns="45720" tIns="27432" bIns="27432">
            <a:spAutoFit/>
          </a:bodyPr>
          <a:lstStyle/>
          <a:p>
            <a:pPr algn="l">
              <a:spcAft>
                <a:spcPts val="600"/>
              </a:spcAft>
            </a:pPr>
            <a:r>
              <a:rPr sz="1600" b="0">
                <a:solidFill>
                  <a:srgbClr val="003A70"/>
                </a:solidFill>
                <a:latin typeface="Calibri"/>
              </a:rPr>
              <a:t>Advisor fixes the text and approves; the diff against the AI draft is captured</a:t>
            </a:r>
          </a:p>
        </p:txBody>
      </p:sp>
      <p:sp>
        <p:nvSpPr>
          <p:cNvPr id="13" name="Rounded Rectangle 12"/>
          <p:cNvSpPr/>
          <p:nvPr/>
        </p:nvSpPr>
        <p:spPr>
          <a:xfrm>
            <a:off x="548640" y="4434840"/>
            <a:ext cx="640080" cy="64008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a:solidFill>
                  <a:srgbClr val="FFFFFF"/>
                </a:solidFill>
                <a:latin typeface="Calibri"/>
              </a:rPr>
              <a:t>4</a:t>
            </a:r>
          </a:p>
        </p:txBody>
      </p:sp>
      <p:sp>
        <p:nvSpPr>
          <p:cNvPr id="14" name="TextBox 13"/>
          <p:cNvSpPr txBox="1"/>
          <p:nvPr/>
        </p:nvSpPr>
        <p:spPr>
          <a:xfrm>
            <a:off x="1371600" y="4434840"/>
            <a:ext cx="6583680" cy="731520"/>
          </a:xfrm>
          <a:prstGeom prst="rect">
            <a:avLst/>
          </a:prstGeom>
          <a:noFill/>
        </p:spPr>
        <p:txBody>
          <a:bodyPr wrap="square" anchor="ctr" lIns="45720" rIns="45720" tIns="27432" bIns="27432">
            <a:spAutoFit/>
          </a:bodyPr>
          <a:lstStyle/>
          <a:p>
            <a:pPr algn="l">
              <a:spcAft>
                <a:spcPts val="600"/>
              </a:spcAft>
            </a:pPr>
            <a:r>
              <a:rPr sz="1600" b="0">
                <a:solidFill>
                  <a:srgbClr val="003A70"/>
                </a:solidFill>
                <a:latin typeface="Calibri"/>
              </a:rPr>
              <a:t>Compliance principal opens the queue and approves for release (or rejects with a reason)</a:t>
            </a:r>
          </a:p>
        </p:txBody>
      </p:sp>
      <p:sp>
        <p:nvSpPr>
          <p:cNvPr id="15" name="Rounded Rectangle 14"/>
          <p:cNvSpPr/>
          <p:nvPr/>
        </p:nvSpPr>
        <p:spPr>
          <a:xfrm>
            <a:off x="548640" y="5303520"/>
            <a:ext cx="640080" cy="64008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a:solidFill>
                  <a:srgbClr val="FFFFFF"/>
                </a:solidFill>
                <a:latin typeface="Calibri"/>
              </a:rPr>
              <a:t>5</a:t>
            </a:r>
          </a:p>
        </p:txBody>
      </p:sp>
      <p:sp>
        <p:nvSpPr>
          <p:cNvPr id="16" name="TextBox 15"/>
          <p:cNvSpPr txBox="1"/>
          <p:nvPr/>
        </p:nvSpPr>
        <p:spPr>
          <a:xfrm>
            <a:off x="1371600" y="5303520"/>
            <a:ext cx="6583680" cy="731520"/>
          </a:xfrm>
          <a:prstGeom prst="rect">
            <a:avLst/>
          </a:prstGeom>
          <a:noFill/>
        </p:spPr>
        <p:txBody>
          <a:bodyPr wrap="square" anchor="ctr" lIns="45720" rIns="45720" tIns="27432" bIns="27432">
            <a:spAutoFit/>
          </a:bodyPr>
          <a:lstStyle/>
          <a:p>
            <a:pPr algn="l">
              <a:spcAft>
                <a:spcPts val="600"/>
              </a:spcAft>
            </a:pPr>
            <a:r>
              <a:rPr sz="1600" b="0">
                <a:solidFill>
                  <a:srgbClr val="003A70"/>
                </a:solidFill>
                <a:latin typeface="Calibri"/>
              </a:rPr>
              <a:t>Audit tab: who did what, when, with hashes. Principal sees 'Record integrity verified' and can export</a:t>
            </a:r>
          </a:p>
        </p:txBody>
      </p:sp>
      <p:sp>
        <p:nvSpPr>
          <p:cNvPr id="17" name="Rounded Rectangle 16"/>
          <p:cNvSpPr/>
          <p:nvPr/>
        </p:nvSpPr>
        <p:spPr>
          <a:xfrm>
            <a:off x="8321040" y="1828800"/>
            <a:ext cx="3291840" cy="420624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1920240"/>
            <a:ext cx="3017520" cy="4023360"/>
          </a:xfrm>
          <a:prstGeom prst="rect">
            <a:avLst/>
          </a:prstGeom>
          <a:noFill/>
        </p:spPr>
        <p:txBody>
          <a:bodyPr wrap="square" anchor="t" lIns="45720" rIns="45720" tIns="27432" bIns="27432">
            <a:spAutoFit/>
          </a:bodyPr>
          <a:lstStyle/>
          <a:p>
            <a:pPr algn="l">
              <a:spcAft>
                <a:spcPts val="800"/>
              </a:spcAft>
            </a:pPr>
            <a:r>
              <a:rPr sz="1800" b="1">
                <a:solidFill>
                  <a:srgbClr val="0073CF"/>
                </a:solidFill>
                <a:latin typeface="Calibri"/>
              </a:rPr>
              <a:t>Working app</a:t>
            </a:r>
          </a:p>
          <a:p>
            <a:pPr algn="l">
              <a:spcAft>
                <a:spcPts val="800"/>
              </a:spcAft>
            </a:pPr>
            <a:r>
              <a:rPr sz="1400" b="0">
                <a:solidFill>
                  <a:srgbClr val="003A70"/>
                </a:solidFill>
                <a:latin typeface="Calibri"/>
              </a:rPr>
              <a:t>http://98.89.13.40:8080</a:t>
            </a:r>
          </a:p>
          <a:p>
            <a:pPr algn="l">
              <a:spcAft>
                <a:spcPts val="800"/>
              </a:spcAft>
            </a:pPr>
            <a:r>
              <a:rPr sz="1600" b="1">
                <a:solidFill>
                  <a:srgbClr val="0073CF"/>
                </a:solidFill>
                <a:latin typeface="Calibri"/>
              </a:rPr>
              <a:t>Demo sign-ins</a:t>
            </a:r>
          </a:p>
          <a:p>
            <a:pPr algn="l">
              <a:spcAft>
                <a:spcPts val="800"/>
              </a:spcAft>
            </a:pPr>
            <a:r>
              <a:rPr sz="1400" b="0">
                <a:solidFill>
                  <a:srgbClr val="003A70"/>
                </a:solidFill>
                <a:latin typeface="Calibri"/>
              </a:rPr>
              <a:t>assistant1  ·  advisor1  ·  principal1</a:t>
            </a:r>
          </a:p>
          <a:p>
            <a:pPr algn="l">
              <a:spcAft>
                <a:spcPts val="800"/>
              </a:spcAft>
            </a:pPr>
            <a:r>
              <a:rPr sz="1600" b="1">
                <a:solidFill>
                  <a:srgbClr val="B8510D"/>
                </a:solidFill>
                <a:latin typeface="Calibri"/>
              </a:rPr>
              <a:t>Tip</a:t>
            </a:r>
          </a:p>
          <a:p>
            <a:pPr algn="l">
              <a:spcAft>
                <a:spcPts val="800"/>
              </a:spcAft>
            </a:pPr>
            <a:r>
              <a:rPr sz="1400" b="0">
                <a:solidFill>
                  <a:srgbClr val="003A70"/>
                </a:solidFill>
                <a:latin typeface="Calibri"/>
              </a:rPr>
              <a:t>Play a recorded run-through; keep the live app as a backup.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692640" cy="1097280"/>
          </a:xfrm>
          <a:prstGeom prst="rect">
            <a:avLst/>
          </a:prstGeom>
          <a:noFill/>
        </p:spPr>
        <p:txBody>
          <a:bodyPr wrap="square" anchor="ctr" lIns="45720" rIns="45720" tIns="27432" bIns="27432">
            <a:spAutoFit/>
          </a:bodyPr>
          <a:lstStyle/>
          <a:p>
            <a:pPr algn="l">
              <a:spcAft>
                <a:spcPts val="600"/>
              </a:spcAft>
            </a:pPr>
            <a:r>
              <a:rPr sz="2800" b="1">
                <a:solidFill>
                  <a:srgbClr val="003A70"/>
                </a:solidFill>
                <a:latin typeface="Calibri"/>
              </a:rPr>
              <a:t>What we built: only features that work today</a:t>
            </a:r>
          </a:p>
        </p:txBody>
      </p:sp>
      <p:sp>
        <p:nvSpPr>
          <p:cNvPr id="3" name="Rectangle 2"/>
          <p:cNvSpPr/>
          <p:nvPr/>
        </p:nvSpPr>
        <p:spPr>
          <a:xfrm>
            <a:off x="548640" y="1481328"/>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46920" y="411480"/>
            <a:ext cx="2194560" cy="365760"/>
          </a:xfrm>
          <a:prstGeom prst="roundRect">
            <a:avLst>
              <a:gd name="adj" fmla="val 50000"/>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Best Technical Execution</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600"/>
              </a:spcAft>
            </a:pPr>
            <a:r>
              <a:rPr sz="1000" b="0">
                <a:solidFill>
                  <a:srgbClr val="5B6B7B"/>
                </a:solidFill>
                <a:latin typeface="Calibri"/>
              </a:rPr>
              <a:t>6</a:t>
            </a:r>
          </a:p>
        </p:txBody>
      </p:sp>
      <p:sp>
        <p:nvSpPr>
          <p:cNvPr id="7" name="Rounded Rectangle 6"/>
          <p:cNvSpPr/>
          <p:nvPr/>
        </p:nvSpPr>
        <p:spPr>
          <a:xfrm>
            <a:off x="548640" y="1828800"/>
            <a:ext cx="3566160" cy="64008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Draft and review</a:t>
            </a:r>
          </a:p>
        </p:txBody>
      </p:sp>
      <p:sp>
        <p:nvSpPr>
          <p:cNvPr id="8" name="Rounded Rectangle 7"/>
          <p:cNvSpPr/>
          <p:nvPr/>
        </p:nvSpPr>
        <p:spPr>
          <a:xfrm>
            <a:off x="548640" y="2514600"/>
            <a:ext cx="3566160" cy="356616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606040"/>
            <a:ext cx="3346704" cy="3383280"/>
          </a:xfrm>
          <a:prstGeom prst="rect">
            <a:avLst/>
          </a:prstGeom>
          <a:noFill/>
        </p:spPr>
        <p:txBody>
          <a:bodyPr wrap="square" anchor="t" lIns="45720" rIns="45720" tIns="27432" bIns="27432">
            <a:spAutoFit/>
          </a:bodyPr>
          <a:lstStyle/>
          <a:p>
            <a:pPr algn="l">
              <a:spcAft>
                <a:spcPts val="800"/>
              </a:spcAft>
            </a:pPr>
            <a:r>
              <a:rPr sz="1400" b="0">
                <a:solidFill>
                  <a:srgbClr val="003A70"/>
                </a:solidFill>
                <a:latin typeface="Calibri"/>
              </a:rPr>
              <a:t>•  Drafts from Amazon Bedrock (Claude Sonnet 4.5)</a:t>
            </a:r>
          </a:p>
          <a:p>
            <a:pPr algn="l">
              <a:spcAft>
                <a:spcPts val="800"/>
              </a:spcAft>
            </a:pPr>
            <a:r>
              <a:rPr sz="1400" b="0">
                <a:solidFill>
                  <a:srgbClr val="003A70"/>
                </a:solidFill>
                <a:latin typeface="Calibri"/>
              </a:rPr>
              <a:t>•  AI revisions from written feedback</a:t>
            </a:r>
          </a:p>
          <a:p>
            <a:pPr algn="l">
              <a:spcAft>
                <a:spcPts val="800"/>
              </a:spcAft>
            </a:pPr>
            <a:r>
              <a:rPr sz="1400" b="0">
                <a:solidFill>
                  <a:srgbClr val="003A70"/>
                </a:solidFill>
                <a:latin typeface="Calibri"/>
              </a:rPr>
              <a:t>•  Manual edits with a diff against the AI text</a:t>
            </a:r>
          </a:p>
          <a:p>
            <a:pPr algn="l">
              <a:spcAft>
                <a:spcPts val="800"/>
              </a:spcAft>
            </a:pPr>
            <a:r>
              <a:rPr sz="1400" b="0">
                <a:solidFill>
                  <a:srgbClr val="003A70"/>
                </a:solidFill>
                <a:latin typeface="Calibri"/>
              </a:rPr>
              <a:t>•  14 simulated client profiles, task templates</a:t>
            </a:r>
          </a:p>
          <a:p>
            <a:pPr algn="l">
              <a:spcAft>
                <a:spcPts val="800"/>
              </a:spcAft>
            </a:pPr>
            <a:r>
              <a:rPr sz="1400" b="0">
                <a:solidFill>
                  <a:srgbClr val="003A70"/>
                </a:solidFill>
                <a:latin typeface="Calibri"/>
              </a:rPr>
              <a:t>•  Queues for assistants, advisors and principals</a:t>
            </a:r>
          </a:p>
        </p:txBody>
      </p:sp>
      <p:sp>
        <p:nvSpPr>
          <p:cNvPr id="10" name="Rounded Rectangle 9"/>
          <p:cNvSpPr/>
          <p:nvPr/>
        </p:nvSpPr>
        <p:spPr>
          <a:xfrm>
            <a:off x="4343400" y="1828800"/>
            <a:ext cx="3566160" cy="640080"/>
          </a:xfrm>
          <a:prstGeom prst="roundRect">
            <a:avLst>
              <a:gd name="adj" fmla="val 6000"/>
            </a:avLst>
          </a:prstGeom>
          <a:solidFill>
            <a:srgbClr val="003A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Control</a:t>
            </a:r>
          </a:p>
        </p:txBody>
      </p:sp>
      <p:sp>
        <p:nvSpPr>
          <p:cNvPr id="11" name="Rounded Rectangle 10"/>
          <p:cNvSpPr/>
          <p:nvPr/>
        </p:nvSpPr>
        <p:spPr>
          <a:xfrm>
            <a:off x="4343400" y="2514600"/>
            <a:ext cx="3566160" cy="356616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3128" y="2606040"/>
            <a:ext cx="3346704" cy="3383280"/>
          </a:xfrm>
          <a:prstGeom prst="rect">
            <a:avLst/>
          </a:prstGeom>
          <a:noFill/>
        </p:spPr>
        <p:txBody>
          <a:bodyPr wrap="square" anchor="t" lIns="45720" rIns="45720" tIns="27432" bIns="27432">
            <a:spAutoFit/>
          </a:bodyPr>
          <a:lstStyle/>
          <a:p>
            <a:pPr algn="l">
              <a:spcAft>
                <a:spcPts val="800"/>
              </a:spcAft>
            </a:pPr>
            <a:r>
              <a:rPr sz="1400" b="0">
                <a:solidFill>
                  <a:srgbClr val="003A70"/>
                </a:solidFill>
                <a:latin typeface="Calibri"/>
              </a:rPr>
              <a:t>•  13 automated compliance rules (8 blocking, 5 warnings)</a:t>
            </a:r>
          </a:p>
          <a:p>
            <a:pPr algn="l">
              <a:spcAft>
                <a:spcPts val="800"/>
              </a:spcAft>
            </a:pPr>
            <a:r>
              <a:rPr sz="1400" b="0">
                <a:solidFill>
                  <a:srgbClr val="003A70"/>
                </a:solidFill>
                <a:latin typeface="Calibri"/>
              </a:rPr>
              <a:t>•  Approval blocked while any blocking finding exists</a:t>
            </a:r>
          </a:p>
          <a:p>
            <a:pPr algn="l">
              <a:spcAft>
                <a:spcPts val="800"/>
              </a:spcAft>
            </a:pPr>
            <a:r>
              <a:rPr sz="1400" b="0">
                <a:solidFill>
                  <a:srgbClr val="003A70"/>
                </a:solidFill>
                <a:latin typeface="Calibri"/>
              </a:rPr>
              <a:t>•  Sign-in with three roles, enforced by the server</a:t>
            </a:r>
          </a:p>
          <a:p>
            <a:pPr algn="l">
              <a:spcAft>
                <a:spcPts val="800"/>
              </a:spcAft>
            </a:pPr>
            <a:r>
              <a:rPr sz="1400" b="0">
                <a:solidFill>
                  <a:srgbClr val="003A70"/>
                </a:solidFill>
                <a:latin typeface="Calibri"/>
              </a:rPr>
              <a:t>•  Two-level approval; rejection requires a reason</a:t>
            </a:r>
          </a:p>
          <a:p>
            <a:pPr algn="l">
              <a:spcAft>
                <a:spcPts val="800"/>
              </a:spcAft>
            </a:pPr>
            <a:r>
              <a:rPr sz="1400" b="0">
                <a:solidFill>
                  <a:srgbClr val="003A70"/>
                </a:solidFill>
                <a:latin typeface="Calibri"/>
              </a:rPr>
              <a:t>•  Separation of duties: no self-supervision</a:t>
            </a:r>
          </a:p>
        </p:txBody>
      </p:sp>
      <p:sp>
        <p:nvSpPr>
          <p:cNvPr id="13" name="Rounded Rectangle 12"/>
          <p:cNvSpPr/>
          <p:nvPr/>
        </p:nvSpPr>
        <p:spPr>
          <a:xfrm>
            <a:off x="8138160" y="1828800"/>
            <a:ext cx="3566160" cy="640080"/>
          </a:xfrm>
          <a:prstGeom prst="roundRect">
            <a:avLst>
              <a:gd name="adj" fmla="val 6000"/>
            </a:avLst>
          </a:prstGeom>
          <a:solidFill>
            <a:srgbClr val="2E8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Proof</a:t>
            </a:r>
          </a:p>
        </p:txBody>
      </p:sp>
      <p:sp>
        <p:nvSpPr>
          <p:cNvPr id="14" name="Rounded Rectangle 13"/>
          <p:cNvSpPr/>
          <p:nvPr/>
        </p:nvSpPr>
        <p:spPr>
          <a:xfrm>
            <a:off x="8138160" y="2514600"/>
            <a:ext cx="3566160" cy="356616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7888" y="2606040"/>
            <a:ext cx="3346704" cy="3383280"/>
          </a:xfrm>
          <a:prstGeom prst="rect">
            <a:avLst/>
          </a:prstGeom>
          <a:noFill/>
        </p:spPr>
        <p:txBody>
          <a:bodyPr wrap="square" anchor="t" lIns="45720" rIns="45720" tIns="27432" bIns="27432">
            <a:spAutoFit/>
          </a:bodyPr>
          <a:lstStyle/>
          <a:p>
            <a:pPr algn="l">
              <a:spcAft>
                <a:spcPts val="800"/>
              </a:spcAft>
            </a:pPr>
            <a:r>
              <a:rPr sz="1400" b="0">
                <a:solidFill>
                  <a:srgbClr val="003A70"/>
                </a:solidFill>
                <a:latin typeface="Calibri"/>
              </a:rPr>
              <a:t>•  Every event logged with the real user ID and role</a:t>
            </a:r>
          </a:p>
          <a:p>
            <a:pPr algn="l">
              <a:spcAft>
                <a:spcPts val="800"/>
              </a:spcAft>
            </a:pPr>
            <a:r>
              <a:rPr sz="1400" b="0">
                <a:solidFill>
                  <a:srgbClr val="003A70"/>
                </a:solidFill>
                <a:latin typeface="Calibri"/>
              </a:rPr>
              <a:t>•  Hash-chained audit records, verified on demand</a:t>
            </a:r>
          </a:p>
          <a:p>
            <a:pPr algn="l">
              <a:spcAft>
                <a:spcPts val="800"/>
              </a:spcAft>
            </a:pPr>
            <a:r>
              <a:rPr sz="1400" b="0">
                <a:solidFill>
                  <a:srgbClr val="003A70"/>
                </a:solidFill>
                <a:latin typeface="Calibri"/>
              </a:rPr>
              <a:t>•  Fingerprints of the AI draft and the final text</a:t>
            </a:r>
          </a:p>
          <a:p>
            <a:pPr algn="l">
              <a:spcAft>
                <a:spcPts val="800"/>
              </a:spcAft>
            </a:pPr>
            <a:r>
              <a:rPr sz="1400" b="0">
                <a:solidFill>
                  <a:srgbClr val="003A70"/>
                </a:solidFill>
                <a:latin typeface="Calibri"/>
              </a:rPr>
              <a:t>•  Shared live audit view across users (DynamoDB)</a:t>
            </a:r>
          </a:p>
          <a:p>
            <a:pPr algn="l">
              <a:spcAft>
                <a:spcPts val="800"/>
              </a:spcAft>
            </a:pPr>
            <a:r>
              <a:rPr sz="1400" b="0">
                <a:solidFill>
                  <a:srgbClr val="003A70"/>
                </a:solidFill>
                <a:latin typeface="Calibri"/>
              </a:rPr>
              <a:t>•  JSON and CSV export with verification status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692640" cy="1097280"/>
          </a:xfrm>
          <a:prstGeom prst="rect">
            <a:avLst/>
          </a:prstGeom>
          <a:noFill/>
        </p:spPr>
        <p:txBody>
          <a:bodyPr wrap="square" anchor="ctr" lIns="45720" rIns="45720" tIns="27432" bIns="27432">
            <a:spAutoFit/>
          </a:bodyPr>
          <a:lstStyle/>
          <a:p>
            <a:pPr algn="l">
              <a:spcAft>
                <a:spcPts val="600"/>
              </a:spcAft>
            </a:pPr>
            <a:r>
              <a:rPr sz="2800" b="1">
                <a:solidFill>
                  <a:srgbClr val="003A70"/>
                </a:solidFill>
                <a:latin typeface="Calibri"/>
              </a:rPr>
              <a:t>How it stays compliant: check, supervise, prove</a:t>
            </a:r>
          </a:p>
        </p:txBody>
      </p:sp>
      <p:sp>
        <p:nvSpPr>
          <p:cNvPr id="3" name="Rectangle 2"/>
          <p:cNvSpPr/>
          <p:nvPr/>
        </p:nvSpPr>
        <p:spPr>
          <a:xfrm>
            <a:off x="548640" y="1481328"/>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46920" y="411480"/>
            <a:ext cx="2194560" cy="365760"/>
          </a:xfrm>
          <a:prstGeom prst="roundRect">
            <a:avLst>
              <a:gd name="adj" fmla="val 50000"/>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Best Technical Execution</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600"/>
              </a:spcAft>
            </a:pPr>
            <a:r>
              <a:rPr sz="1000" b="0">
                <a:solidFill>
                  <a:srgbClr val="5B6B7B"/>
                </a:solidFill>
                <a:latin typeface="Calibri"/>
              </a:rPr>
              <a:t>7</a:t>
            </a:r>
          </a:p>
        </p:txBody>
      </p:sp>
      <p:sp>
        <p:nvSpPr>
          <p:cNvPr id="7" name="Rounded Rectangle 6"/>
          <p:cNvSpPr/>
          <p:nvPr/>
        </p:nvSpPr>
        <p:spPr>
          <a:xfrm>
            <a:off x="548640" y="1828800"/>
            <a:ext cx="3566160" cy="64008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1  Check</a:t>
            </a:r>
          </a:p>
        </p:txBody>
      </p:sp>
      <p:sp>
        <p:nvSpPr>
          <p:cNvPr id="8" name="Rounded Rectangle 7"/>
          <p:cNvSpPr/>
          <p:nvPr/>
        </p:nvSpPr>
        <p:spPr>
          <a:xfrm>
            <a:off x="548640" y="2514600"/>
            <a:ext cx="3566160" cy="233172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560320"/>
            <a:ext cx="3346704" cy="731520"/>
          </a:xfrm>
          <a:prstGeom prst="rect">
            <a:avLst/>
          </a:prstGeom>
          <a:noFill/>
        </p:spPr>
        <p:txBody>
          <a:bodyPr wrap="square" anchor="t" lIns="45720" rIns="45720" tIns="27432" bIns="27432">
            <a:spAutoFit/>
          </a:bodyPr>
          <a:lstStyle/>
          <a:p>
            <a:pPr algn="l">
              <a:spcAft>
                <a:spcPts val="600"/>
              </a:spcAft>
            </a:pPr>
            <a:r>
              <a:rPr sz="1400" b="1">
                <a:solidFill>
                  <a:srgbClr val="0073CF"/>
                </a:solidFill>
                <a:latin typeface="Calibri"/>
              </a:rPr>
              <a:t>Rules run on every draft and again at approval on the server</a:t>
            </a:r>
          </a:p>
        </p:txBody>
      </p:sp>
      <p:sp>
        <p:nvSpPr>
          <p:cNvPr id="10" name="TextBox 9"/>
          <p:cNvSpPr txBox="1"/>
          <p:nvPr/>
        </p:nvSpPr>
        <p:spPr>
          <a:xfrm>
            <a:off x="658368" y="3246120"/>
            <a:ext cx="3346704" cy="1554480"/>
          </a:xfrm>
          <a:prstGeom prst="rect">
            <a:avLst/>
          </a:prstGeom>
          <a:noFill/>
        </p:spPr>
        <p:txBody>
          <a:bodyPr wrap="square" anchor="t" lIns="45720" rIns="45720" tIns="27432" bIns="27432">
            <a:spAutoFit/>
          </a:bodyPr>
          <a:lstStyle/>
          <a:p>
            <a:pPr algn="l">
              <a:spcAft>
                <a:spcPts val="400"/>
              </a:spcAft>
            </a:pPr>
            <a:r>
              <a:rPr sz="1300" b="0">
                <a:solidFill>
                  <a:srgbClr val="003A70"/>
                </a:solidFill>
                <a:latin typeface="Calibri"/>
              </a:rPr>
              <a:t>•  Guaranteed or risk-free language</a:t>
            </a:r>
          </a:p>
          <a:p>
            <a:pPr algn="l">
              <a:spcAft>
                <a:spcPts val="400"/>
              </a:spcAft>
            </a:pPr>
            <a:r>
              <a:rPr sz="1300" b="0">
                <a:solidFill>
                  <a:srgbClr val="003A70"/>
                </a:solidFill>
                <a:latin typeface="Calibri"/>
              </a:rPr>
              <a:t>•  Missing disclosures and suitability</a:t>
            </a:r>
          </a:p>
          <a:p>
            <a:pPr algn="l">
              <a:spcAft>
                <a:spcPts val="400"/>
              </a:spcAft>
            </a:pPr>
            <a:r>
              <a:rPr sz="1300" b="0">
                <a:solidFill>
                  <a:srgbClr val="003A70"/>
                </a:solidFill>
                <a:latin typeface="Calibri"/>
              </a:rPr>
              <a:t>•  Placeholders, SSNs, long account numbers</a:t>
            </a:r>
          </a:p>
        </p:txBody>
      </p:sp>
      <p:sp>
        <p:nvSpPr>
          <p:cNvPr id="11" name="Rounded Rectangle 10"/>
          <p:cNvSpPr/>
          <p:nvPr/>
        </p:nvSpPr>
        <p:spPr>
          <a:xfrm>
            <a:off x="4343400" y="1828800"/>
            <a:ext cx="3566160" cy="640080"/>
          </a:xfrm>
          <a:prstGeom prst="roundRect">
            <a:avLst>
              <a:gd name="adj" fmla="val 6000"/>
            </a:avLst>
          </a:prstGeom>
          <a:solidFill>
            <a:srgbClr val="003A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2  Supervise</a:t>
            </a:r>
          </a:p>
        </p:txBody>
      </p:sp>
      <p:sp>
        <p:nvSpPr>
          <p:cNvPr id="12" name="Rounded Rectangle 11"/>
          <p:cNvSpPr/>
          <p:nvPr/>
        </p:nvSpPr>
        <p:spPr>
          <a:xfrm>
            <a:off x="4343400" y="2514600"/>
            <a:ext cx="3566160" cy="233172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3128" y="2560320"/>
            <a:ext cx="3346704" cy="731520"/>
          </a:xfrm>
          <a:prstGeom prst="rect">
            <a:avLst/>
          </a:prstGeom>
          <a:noFill/>
        </p:spPr>
        <p:txBody>
          <a:bodyPr wrap="square" anchor="t" lIns="45720" rIns="45720" tIns="27432" bIns="27432">
            <a:spAutoFit/>
          </a:bodyPr>
          <a:lstStyle/>
          <a:p>
            <a:pPr algn="l">
              <a:spcAft>
                <a:spcPts val="600"/>
              </a:spcAft>
            </a:pPr>
            <a:r>
              <a:rPr sz="1400" b="1">
                <a:solidFill>
                  <a:srgbClr val="003A70"/>
                </a:solidFill>
                <a:latin typeface="Calibri"/>
              </a:rPr>
              <a:t>Advisor sign-off, then compliance principal</a:t>
            </a:r>
          </a:p>
        </p:txBody>
      </p:sp>
      <p:sp>
        <p:nvSpPr>
          <p:cNvPr id="14" name="TextBox 13"/>
          <p:cNvSpPr txBox="1"/>
          <p:nvPr/>
        </p:nvSpPr>
        <p:spPr>
          <a:xfrm>
            <a:off x="4453128" y="3246120"/>
            <a:ext cx="3346704" cy="1554480"/>
          </a:xfrm>
          <a:prstGeom prst="rect">
            <a:avLst/>
          </a:prstGeom>
          <a:noFill/>
        </p:spPr>
        <p:txBody>
          <a:bodyPr wrap="square" anchor="t" lIns="45720" rIns="45720" tIns="27432" bIns="27432">
            <a:spAutoFit/>
          </a:bodyPr>
          <a:lstStyle/>
          <a:p>
            <a:pPr algn="l">
              <a:spcAft>
                <a:spcPts val="400"/>
              </a:spcAft>
            </a:pPr>
            <a:r>
              <a:rPr sz="1300" b="0">
                <a:solidFill>
                  <a:srgbClr val="003A70"/>
                </a:solidFill>
                <a:latin typeface="Calibri"/>
              </a:rPr>
              <a:t>•  Principal sees only items ready for review</a:t>
            </a:r>
          </a:p>
          <a:p>
            <a:pPr algn="l">
              <a:spcAft>
                <a:spcPts val="400"/>
              </a:spcAft>
            </a:pPr>
            <a:r>
              <a:rPr sz="1300" b="0">
                <a:solidFill>
                  <a:srgbClr val="003A70"/>
                </a:solidFill>
                <a:latin typeface="Calibri"/>
              </a:rPr>
              <a:t>•  Rejection returns it with a reason</a:t>
            </a:r>
          </a:p>
          <a:p>
            <a:pPr algn="l">
              <a:spcAft>
                <a:spcPts val="400"/>
              </a:spcAft>
            </a:pPr>
            <a:r>
              <a:rPr sz="1300" b="0">
                <a:solidFill>
                  <a:srgbClr val="003A70"/>
                </a:solidFill>
                <a:latin typeface="Calibri"/>
              </a:rPr>
              <a:t>•  A principal cannot approve their own work</a:t>
            </a:r>
          </a:p>
        </p:txBody>
      </p:sp>
      <p:sp>
        <p:nvSpPr>
          <p:cNvPr id="15" name="Rounded Rectangle 14"/>
          <p:cNvSpPr/>
          <p:nvPr/>
        </p:nvSpPr>
        <p:spPr>
          <a:xfrm>
            <a:off x="8138160" y="1828800"/>
            <a:ext cx="3566160" cy="640080"/>
          </a:xfrm>
          <a:prstGeom prst="roundRect">
            <a:avLst>
              <a:gd name="adj" fmla="val 6000"/>
            </a:avLst>
          </a:prstGeom>
          <a:solidFill>
            <a:srgbClr val="2E8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3  Prove</a:t>
            </a:r>
          </a:p>
        </p:txBody>
      </p:sp>
      <p:sp>
        <p:nvSpPr>
          <p:cNvPr id="16" name="Rounded Rectangle 15"/>
          <p:cNvSpPr/>
          <p:nvPr/>
        </p:nvSpPr>
        <p:spPr>
          <a:xfrm>
            <a:off x="8138160" y="2514600"/>
            <a:ext cx="3566160" cy="233172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2560320"/>
            <a:ext cx="3346704" cy="731520"/>
          </a:xfrm>
          <a:prstGeom prst="rect">
            <a:avLst/>
          </a:prstGeom>
          <a:noFill/>
        </p:spPr>
        <p:txBody>
          <a:bodyPr wrap="square" anchor="t" lIns="45720" rIns="45720" tIns="27432" bIns="27432">
            <a:spAutoFit/>
          </a:bodyPr>
          <a:lstStyle/>
          <a:p>
            <a:pPr algn="l">
              <a:spcAft>
                <a:spcPts val="600"/>
              </a:spcAft>
            </a:pPr>
            <a:r>
              <a:rPr sz="1400" b="1">
                <a:solidFill>
                  <a:srgbClr val="2E8B3A"/>
                </a:solidFill>
                <a:latin typeface="Calibri"/>
              </a:rPr>
              <a:t>Every step is chained to the one before it</a:t>
            </a:r>
          </a:p>
        </p:txBody>
      </p:sp>
      <p:sp>
        <p:nvSpPr>
          <p:cNvPr id="18" name="TextBox 17"/>
          <p:cNvSpPr txBox="1"/>
          <p:nvPr/>
        </p:nvSpPr>
        <p:spPr>
          <a:xfrm>
            <a:off x="8247888" y="3246120"/>
            <a:ext cx="3346704" cy="1554480"/>
          </a:xfrm>
          <a:prstGeom prst="rect">
            <a:avLst/>
          </a:prstGeom>
          <a:noFill/>
        </p:spPr>
        <p:txBody>
          <a:bodyPr wrap="square" anchor="t" lIns="45720" rIns="45720" tIns="27432" bIns="27432">
            <a:spAutoFit/>
          </a:bodyPr>
          <a:lstStyle/>
          <a:p>
            <a:pPr algn="l">
              <a:spcAft>
                <a:spcPts val="400"/>
              </a:spcAft>
            </a:pPr>
            <a:r>
              <a:rPr sz="1300" b="0">
                <a:solidFill>
                  <a:srgbClr val="003A70"/>
                </a:solidFill>
                <a:latin typeface="Calibri"/>
              </a:rPr>
              <a:t>•  Altered, deleted or reordered records are detected</a:t>
            </a:r>
          </a:p>
          <a:p>
            <a:pPr algn="l">
              <a:spcAft>
                <a:spcPts val="400"/>
              </a:spcAft>
            </a:pPr>
            <a:r>
              <a:rPr sz="1300" b="0">
                <a:solidFill>
                  <a:srgbClr val="003A70"/>
                </a:solidFill>
                <a:latin typeface="Calibri"/>
              </a:rPr>
              <a:t>•  Records name the real user and role</a:t>
            </a:r>
          </a:p>
          <a:p>
            <a:pPr algn="l">
              <a:spcAft>
                <a:spcPts val="400"/>
              </a:spcAft>
            </a:pPr>
            <a:r>
              <a:rPr sz="1300" b="0">
                <a:solidFill>
                  <a:srgbClr val="003A70"/>
                </a:solidFill>
                <a:latin typeface="Calibri"/>
              </a:rPr>
              <a:t>•  Exportable for audits</a:t>
            </a:r>
          </a:p>
        </p:txBody>
      </p:sp>
      <p:sp>
        <p:nvSpPr>
          <p:cNvPr id="19" name="Rounded Rectangle 18"/>
          <p:cNvSpPr/>
          <p:nvPr/>
        </p:nvSpPr>
        <p:spPr>
          <a:xfrm>
            <a:off x="548640" y="5074920"/>
            <a:ext cx="11018520" cy="1097280"/>
          </a:xfrm>
          <a:prstGeom prst="roundRect">
            <a:avLst>
              <a:gd name="adj" fmla="val 6000"/>
            </a:avLst>
          </a:prstGeom>
          <a:solidFill>
            <a:srgbClr val="F2F6FA"/>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120640"/>
            <a:ext cx="10698480" cy="1005840"/>
          </a:xfrm>
          <a:prstGeom prst="rect">
            <a:avLst/>
          </a:prstGeom>
          <a:noFill/>
        </p:spPr>
        <p:txBody>
          <a:bodyPr wrap="square" anchor="ctr" lIns="45720" rIns="45720" tIns="27432" bIns="27432">
            <a:spAutoFit/>
          </a:bodyPr>
          <a:lstStyle/>
          <a:p>
            <a:pPr algn="l">
              <a:spcAft>
                <a:spcPts val="300"/>
              </a:spcAft>
            </a:pPr>
            <a:r>
              <a:rPr sz="1500" b="1">
                <a:solidFill>
                  <a:srgbClr val="C0392B"/>
                </a:solidFill>
                <a:latin typeface="Calibri"/>
              </a:rPr>
              <a:t>Example: advisor types 'This portfolio offers guaranteed returns.'</a:t>
            </a:r>
          </a:p>
          <a:p>
            <a:pPr algn="l">
              <a:spcAft>
                <a:spcPts val="300"/>
              </a:spcAft>
            </a:pPr>
            <a:r>
              <a:rPr sz="1400" b="0">
                <a:solidFill>
                  <a:srgbClr val="003A70"/>
                </a:solidFill>
                <a:latin typeface="Calibri"/>
              </a:rPr>
              <a:t>Blocked: promissory language (FINRA 2210(d)(1)(B)). The Approve button is disabled and the server refuses the request until it is fixed.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692640" cy="1097280"/>
          </a:xfrm>
          <a:prstGeom prst="rect">
            <a:avLst/>
          </a:prstGeom>
          <a:noFill/>
        </p:spPr>
        <p:txBody>
          <a:bodyPr wrap="square" anchor="ctr" lIns="45720" rIns="45720" tIns="27432" bIns="27432">
            <a:spAutoFit/>
          </a:bodyPr>
          <a:lstStyle/>
          <a:p>
            <a:pPr algn="l">
              <a:spcAft>
                <a:spcPts val="600"/>
              </a:spcAft>
            </a:pPr>
            <a:r>
              <a:rPr sz="2800" b="1">
                <a:solidFill>
                  <a:srgbClr val="003A70"/>
                </a:solidFill>
                <a:latin typeface="Calibri"/>
              </a:rPr>
              <a:t>Technical design: simple, secure by default, built on AWS</a:t>
            </a:r>
          </a:p>
        </p:txBody>
      </p:sp>
      <p:sp>
        <p:nvSpPr>
          <p:cNvPr id="3" name="Rectangle 2"/>
          <p:cNvSpPr/>
          <p:nvPr/>
        </p:nvSpPr>
        <p:spPr>
          <a:xfrm>
            <a:off x="548640" y="1481328"/>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46920" y="411480"/>
            <a:ext cx="2194560" cy="365760"/>
          </a:xfrm>
          <a:prstGeom prst="roundRect">
            <a:avLst>
              <a:gd name="adj" fmla="val 50000"/>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Best Technical Execution</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600"/>
              </a:spcAft>
            </a:pPr>
            <a:r>
              <a:rPr sz="1000" b="0">
                <a:solidFill>
                  <a:srgbClr val="5B6B7B"/>
                </a:solidFill>
                <a:latin typeface="Calibri"/>
              </a:rPr>
              <a:t>8</a:t>
            </a:r>
          </a:p>
        </p:txBody>
      </p:sp>
      <p:sp>
        <p:nvSpPr>
          <p:cNvPr id="7" name="Rounded Rectangle 6"/>
          <p:cNvSpPr/>
          <p:nvPr/>
        </p:nvSpPr>
        <p:spPr>
          <a:xfrm>
            <a:off x="457200" y="2103120"/>
            <a:ext cx="1645920" cy="128016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Assistant</a:t>
            </a:r>
          </a:p>
          <a:p>
            <a:pPr algn="ctr"/>
            <a:r>
              <a:rPr sz="1300" b="0">
                <a:solidFill>
                  <a:srgbClr val="FFFFFF"/>
                </a:solidFill>
                <a:latin typeface="Calibri"/>
              </a:rPr>
              <a:t>Advisor</a:t>
            </a:r>
          </a:p>
          <a:p>
            <a:pPr algn="ctr"/>
            <a:r>
              <a:rPr sz="1300" b="0">
                <a:solidFill>
                  <a:srgbClr val="FFFFFF"/>
                </a:solidFill>
                <a:latin typeface="Calibri"/>
              </a:rPr>
              <a:t>Principal</a:t>
            </a:r>
          </a:p>
        </p:txBody>
      </p:sp>
      <p:sp>
        <p:nvSpPr>
          <p:cNvPr id="8" name="Rounded Rectangle 7"/>
          <p:cNvSpPr/>
          <p:nvPr/>
        </p:nvSpPr>
        <p:spPr>
          <a:xfrm>
            <a:off x="2651760" y="2103120"/>
            <a:ext cx="2103120" cy="1280160"/>
          </a:xfrm>
          <a:prstGeom prst="roundRect">
            <a:avLst>
              <a:gd name="adj" fmla="val 6000"/>
            </a:avLst>
          </a:prstGeom>
          <a:solidFill>
            <a:srgbClr val="003A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Streamlit</a:t>
            </a:r>
          </a:p>
          <a:p>
            <a:pPr algn="ctr"/>
            <a:r>
              <a:rPr sz="1300" b="0">
                <a:solidFill>
                  <a:srgbClr val="FFFFFF"/>
                </a:solidFill>
                <a:latin typeface="Calibri"/>
              </a:rPr>
              <a:t>dashboard :8080</a:t>
            </a:r>
          </a:p>
        </p:txBody>
      </p:sp>
      <p:sp>
        <p:nvSpPr>
          <p:cNvPr id="9" name="Rounded Rectangle 8"/>
          <p:cNvSpPr/>
          <p:nvPr/>
        </p:nvSpPr>
        <p:spPr>
          <a:xfrm>
            <a:off x="5303520" y="2103120"/>
            <a:ext cx="2103120" cy="1280160"/>
          </a:xfrm>
          <a:prstGeom prst="roundRect">
            <a:avLst>
              <a:gd name="adj" fmla="val 6000"/>
            </a:avLst>
          </a:prstGeom>
          <a:solidFill>
            <a:srgbClr val="003A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FastAPI backend</a:t>
            </a:r>
          </a:p>
          <a:p>
            <a:pPr algn="ctr"/>
            <a:r>
              <a:rPr sz="1300" b="0">
                <a:solidFill>
                  <a:srgbClr val="FFFFFF"/>
                </a:solidFill>
                <a:latin typeface="Calibri"/>
              </a:rPr>
              <a:t>token auth, roles</a:t>
            </a:r>
          </a:p>
        </p:txBody>
      </p:sp>
      <p:sp>
        <p:nvSpPr>
          <p:cNvPr id="10" name="Rounded Rectangle 9"/>
          <p:cNvSpPr/>
          <p:nvPr/>
        </p:nvSpPr>
        <p:spPr>
          <a:xfrm>
            <a:off x="7955279" y="1691640"/>
            <a:ext cx="1828800" cy="1005840"/>
          </a:xfrm>
          <a:prstGeom prst="roundRect">
            <a:avLst>
              <a:gd name="adj" fmla="val 6000"/>
            </a:avLst>
          </a:prstGeom>
          <a:solidFill>
            <a:srgbClr val="2E8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Amazon Bedrock</a:t>
            </a:r>
          </a:p>
          <a:p>
            <a:pPr algn="ctr"/>
            <a:r>
              <a:rPr sz="1200" b="0">
                <a:solidFill>
                  <a:srgbClr val="FFFFFF"/>
                </a:solidFill>
                <a:latin typeface="Calibri"/>
              </a:rPr>
              <a:t>Claude Sonnet 4.5</a:t>
            </a:r>
          </a:p>
        </p:txBody>
      </p:sp>
      <p:sp>
        <p:nvSpPr>
          <p:cNvPr id="11" name="Rounded Rectangle 10"/>
          <p:cNvSpPr/>
          <p:nvPr/>
        </p:nvSpPr>
        <p:spPr>
          <a:xfrm>
            <a:off x="7955279" y="2971800"/>
            <a:ext cx="1828800" cy="1005840"/>
          </a:xfrm>
          <a:prstGeom prst="roundRect">
            <a:avLst>
              <a:gd name="adj" fmla="val 6000"/>
            </a:avLst>
          </a:prstGeom>
          <a:solidFill>
            <a:srgbClr val="2E8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Amazon DynamoDB</a:t>
            </a:r>
          </a:p>
          <a:p>
            <a:pPr algn="ctr"/>
            <a:r>
              <a:rPr sz="1200" b="0">
                <a:solidFill>
                  <a:srgbClr val="FFFFFF"/>
                </a:solidFill>
                <a:latin typeface="Calibri"/>
              </a:rPr>
              <a:t>state + audit log</a:t>
            </a:r>
          </a:p>
        </p:txBody>
      </p:sp>
      <p:sp>
        <p:nvSpPr>
          <p:cNvPr id="12" name="Rounded Rectangle 11"/>
          <p:cNvSpPr/>
          <p:nvPr/>
        </p:nvSpPr>
        <p:spPr>
          <a:xfrm>
            <a:off x="10149840" y="2103120"/>
            <a:ext cx="1737360" cy="1280160"/>
          </a:xfrm>
          <a:prstGeom prst="roundRect">
            <a:avLst>
              <a:gd name="adj" fmla="val 6000"/>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IAM role</a:t>
            </a:r>
          </a:p>
          <a:p>
            <a:pPr algn="ctr"/>
            <a:r>
              <a:rPr sz="1200" b="0">
                <a:solidFill>
                  <a:srgbClr val="FFFFFF"/>
                </a:solidFill>
                <a:latin typeface="Calibri"/>
              </a:rPr>
              <a:t>no keys stored</a:t>
            </a:r>
          </a:p>
        </p:txBody>
      </p:sp>
      <p:cxnSp>
        <p:nvCxnSpPr>
          <p:cNvPr id="13" name="Connector 12"/>
          <p:cNvCxnSpPr/>
          <p:nvPr/>
        </p:nvCxnSpPr>
        <p:spPr>
          <a:xfrm>
            <a:off x="2103120" y="2743200"/>
            <a:ext cx="548640" cy="0"/>
          </a:xfrm>
          <a:prstGeom prst="line">
            <a:avLst/>
          </a:prstGeom>
          <a:ln w="25400">
            <a:solidFill>
              <a:srgbClr val="003A7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754880" y="2743200"/>
            <a:ext cx="548640" cy="0"/>
          </a:xfrm>
          <a:prstGeom prst="line">
            <a:avLst/>
          </a:prstGeom>
          <a:ln w="25400">
            <a:solidFill>
              <a:srgbClr val="003A7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406640" y="2194560"/>
            <a:ext cx="548639" cy="274320"/>
          </a:xfrm>
          <a:prstGeom prst="line">
            <a:avLst/>
          </a:prstGeom>
          <a:ln w="25400">
            <a:solidFill>
              <a:srgbClr val="003A7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406640" y="3017520"/>
            <a:ext cx="548639" cy="457200"/>
          </a:xfrm>
          <a:prstGeom prst="line">
            <a:avLst/>
          </a:prstGeom>
          <a:ln w="25400">
            <a:solidFill>
              <a:srgbClr val="003A7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784080" y="2743200"/>
            <a:ext cx="365760" cy="0"/>
          </a:xfrm>
          <a:prstGeom prst="line">
            <a:avLst/>
          </a:prstGeom>
          <a:ln w="25400">
            <a:solidFill>
              <a:srgbClr val="5B6B7B"/>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651760" y="4114800"/>
            <a:ext cx="4754880" cy="91440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0" y="4160520"/>
            <a:ext cx="4572000" cy="822960"/>
          </a:xfrm>
          <a:prstGeom prst="rect">
            <a:avLst/>
          </a:prstGeom>
          <a:noFill/>
        </p:spPr>
        <p:txBody>
          <a:bodyPr wrap="square" anchor="ctr" lIns="45720" rIns="45720" tIns="27432" bIns="27432">
            <a:spAutoFit/>
          </a:bodyPr>
          <a:lstStyle/>
          <a:p>
            <a:pPr algn="ctr">
              <a:spcAft>
                <a:spcPts val="600"/>
              </a:spcAft>
            </a:pPr>
            <a:r>
              <a:rPr sz="1300" b="0">
                <a:solidFill>
                  <a:srgbClr val="003A70"/>
                </a:solidFill>
                <a:latin typeface="Calibri"/>
              </a:rPr>
              <a:t>backend logic: compliance rules · workflow · auth · hash-chained audit</a:t>
            </a:r>
          </a:p>
        </p:txBody>
      </p:sp>
      <p:cxnSp>
        <p:nvCxnSpPr>
          <p:cNvPr id="20" name="Connector 19"/>
          <p:cNvCxnSpPr/>
          <p:nvPr/>
        </p:nvCxnSpPr>
        <p:spPr>
          <a:xfrm>
            <a:off x="6355080" y="3383280"/>
            <a:ext cx="0" cy="731520"/>
          </a:xfrm>
          <a:prstGeom prst="line">
            <a:avLst/>
          </a:prstGeom>
          <a:ln w="25400">
            <a:solidFill>
              <a:srgbClr val="0073CF"/>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57200" y="5349240"/>
            <a:ext cx="2743200" cy="822960"/>
          </a:xfrm>
          <a:prstGeom prst="roundRect">
            <a:avLst>
              <a:gd name="adj" fmla="val 6000"/>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GitHub Actions</a:t>
            </a:r>
          </a:p>
          <a:p>
            <a:pPr algn="ctr"/>
            <a:r>
              <a:rPr sz="1200" b="0">
                <a:solidFill>
                  <a:srgbClr val="FFFFFF"/>
                </a:solidFill>
                <a:latin typeface="Calibri"/>
              </a:rPr>
              <a:t>deploys on push</a:t>
            </a:r>
          </a:p>
        </p:txBody>
      </p:sp>
      <p:sp>
        <p:nvSpPr>
          <p:cNvPr id="22" name="Rounded Rectangle 21"/>
          <p:cNvSpPr/>
          <p:nvPr/>
        </p:nvSpPr>
        <p:spPr>
          <a:xfrm>
            <a:off x="3749039" y="5349240"/>
            <a:ext cx="2926080" cy="822960"/>
          </a:xfrm>
          <a:prstGeom prst="roundRect">
            <a:avLst>
              <a:gd name="adj" fmla="val 6000"/>
            </a:avLst>
          </a:prstGeom>
          <a:solidFill>
            <a:srgbClr val="003A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Amazon EC2</a:t>
            </a:r>
          </a:p>
          <a:p>
            <a:pPr algn="ctr"/>
            <a:r>
              <a:rPr sz="1200" b="0">
                <a:solidFill>
                  <a:srgbClr val="FFFFFF"/>
                </a:solidFill>
                <a:latin typeface="Calibri"/>
              </a:rPr>
              <a:t>Elastic IP, rebuilt each deploy</a:t>
            </a:r>
          </a:p>
        </p:txBody>
      </p:sp>
      <p:cxnSp>
        <p:nvCxnSpPr>
          <p:cNvPr id="23" name="Connector 22"/>
          <p:cNvCxnSpPr/>
          <p:nvPr/>
        </p:nvCxnSpPr>
        <p:spPr>
          <a:xfrm>
            <a:off x="3200400" y="5760720"/>
            <a:ext cx="548639" cy="0"/>
          </a:xfrm>
          <a:prstGeom prst="line">
            <a:avLst/>
          </a:prstGeom>
          <a:ln w="25400">
            <a:solidFill>
              <a:srgbClr val="003A70"/>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040880" y="5212080"/>
            <a:ext cx="4754880" cy="1097280"/>
          </a:xfrm>
          <a:prstGeom prst="rect">
            <a:avLst/>
          </a:prstGeom>
          <a:noFill/>
        </p:spPr>
        <p:txBody>
          <a:bodyPr wrap="square" anchor="t" lIns="45720" rIns="45720" tIns="27432" bIns="27432">
            <a:spAutoFit/>
          </a:bodyPr>
          <a:lstStyle/>
          <a:p>
            <a:pPr algn="l">
              <a:spcAft>
                <a:spcPts val="400"/>
              </a:spcAft>
            </a:pPr>
            <a:r>
              <a:rPr sz="1300" b="0">
                <a:solidFill>
                  <a:srgbClr val="003A70"/>
                </a:solidFill>
                <a:latin typeface="Calibri"/>
              </a:rPr>
              <a:t>•  Compliance and role checks run on the server; the UI is not trusted</a:t>
            </a:r>
          </a:p>
          <a:p>
            <a:pPr algn="l">
              <a:spcAft>
                <a:spcPts val="400"/>
              </a:spcAft>
            </a:pPr>
            <a:r>
              <a:rPr sz="1300" b="0">
                <a:solidFill>
                  <a:srgbClr val="003A70"/>
                </a:solidFill>
                <a:latin typeface="Calibri"/>
              </a:rPr>
              <a:t>•  Business logic is kept separate from the web framework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692640" cy="1097280"/>
          </a:xfrm>
          <a:prstGeom prst="rect">
            <a:avLst/>
          </a:prstGeom>
          <a:noFill/>
        </p:spPr>
        <p:txBody>
          <a:bodyPr wrap="square" anchor="ctr" lIns="45720" rIns="45720" tIns="27432" bIns="27432">
            <a:spAutoFit/>
          </a:bodyPr>
          <a:lstStyle/>
          <a:p>
            <a:pPr algn="l">
              <a:spcAft>
                <a:spcPts val="600"/>
              </a:spcAft>
            </a:pPr>
            <a:r>
              <a:rPr sz="2800" b="1">
                <a:solidFill>
                  <a:srgbClr val="003A70"/>
                </a:solidFill>
                <a:latin typeface="Calibri"/>
              </a:rPr>
              <a:t>How we used AWS, and why</a:t>
            </a:r>
          </a:p>
        </p:txBody>
      </p:sp>
      <p:sp>
        <p:nvSpPr>
          <p:cNvPr id="3" name="Rectangle 2"/>
          <p:cNvSpPr/>
          <p:nvPr/>
        </p:nvSpPr>
        <p:spPr>
          <a:xfrm>
            <a:off x="548640" y="1481328"/>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46920" y="411480"/>
            <a:ext cx="2194560" cy="365760"/>
          </a:xfrm>
          <a:prstGeom prst="roundRect">
            <a:avLst>
              <a:gd name="adj" fmla="val 50000"/>
            </a:avLst>
          </a:prstGeom>
          <a:solidFill>
            <a:srgbClr val="2E8B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Best Use of AWS</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600"/>
              </a:spcAft>
            </a:pPr>
            <a:r>
              <a:rPr sz="1000" b="0">
                <a:solidFill>
                  <a:srgbClr val="5B6B7B"/>
                </a:solidFill>
                <a:latin typeface="Calibri"/>
              </a:rPr>
              <a:t>9</a:t>
            </a:r>
          </a:p>
        </p:txBody>
      </p:sp>
      <p:graphicFrame>
        <p:nvGraphicFramePr>
          <p:cNvPr id="7" name="Table 6"/>
          <p:cNvGraphicFramePr>
            <a:graphicFrameLocks noGrp="1"/>
          </p:cNvGraphicFramePr>
          <p:nvPr/>
        </p:nvGraphicFramePr>
        <p:xfrm>
          <a:off x="548640" y="1783080"/>
          <a:ext cx="11064240" cy="3840480"/>
        </p:xfrm>
        <a:graphic>
          <a:graphicData uri="http://schemas.openxmlformats.org/drawingml/2006/table">
            <a:tbl>
              <a:tblPr firstRow="1" bandRow="1">
                <a:tableStyleId>{5C22544A-7EE6-4342-B048-85BDC9FD1C3A}</a:tableStyleId>
              </a:tblPr>
              <a:tblGrid>
                <a:gridCol w="2377440"/>
                <a:gridCol w="4846320"/>
                <a:gridCol w="3840480"/>
              </a:tblGrid>
              <a:tr h="768096">
                <a:tc>
                  <a:txBody>
                    <a:bodyPr wrap="square"/>
                    <a:lstStyle/>
                    <a:p>
                      <a:r>
                        <a:rPr sz="1400" b="1">
                          <a:solidFill>
                            <a:srgbClr val="FFFFFF"/>
                          </a:solidFill>
                          <a:latin typeface="Calibri"/>
                        </a:rPr>
                        <a:t>Service</a:t>
                      </a:r>
                    </a:p>
                  </a:txBody>
                  <a:tcPr marL="91440" marR="91440">
                    <a:solidFill>
                      <a:srgbClr val="003A70"/>
                    </a:solidFill>
                  </a:tcPr>
                </a:tc>
                <a:tc>
                  <a:txBody>
                    <a:bodyPr wrap="square"/>
                    <a:lstStyle/>
                    <a:p>
                      <a:r>
                        <a:rPr sz="1400" b="1">
                          <a:solidFill>
                            <a:srgbClr val="FFFFFF"/>
                          </a:solidFill>
                          <a:latin typeface="Calibri"/>
                        </a:rPr>
                        <a:t>Why this one</a:t>
                      </a:r>
                    </a:p>
                  </a:txBody>
                  <a:tcPr marL="91440" marR="91440">
                    <a:solidFill>
                      <a:srgbClr val="003A70"/>
                    </a:solidFill>
                  </a:tcPr>
                </a:tc>
                <a:tc>
                  <a:txBody>
                    <a:bodyPr wrap="square"/>
                    <a:lstStyle/>
                    <a:p>
                      <a:r>
                        <a:rPr sz="1400" b="1">
                          <a:solidFill>
                            <a:srgbClr val="FFFFFF"/>
                          </a:solidFill>
                          <a:latin typeface="Calibri"/>
                        </a:rPr>
                        <a:t>Security, reliability, cost</a:t>
                      </a:r>
                    </a:p>
                  </a:txBody>
                  <a:tcPr marL="91440" marR="91440">
                    <a:solidFill>
                      <a:srgbClr val="003A70"/>
                    </a:solidFill>
                  </a:tcPr>
                </a:tc>
              </a:tr>
              <a:tr h="768096">
                <a:tc>
                  <a:txBody>
                    <a:bodyPr wrap="square"/>
                    <a:lstStyle/>
                    <a:p>
                      <a:r>
                        <a:rPr sz="1300" b="1">
                          <a:solidFill>
                            <a:srgbClr val="003A70"/>
                          </a:solidFill>
                          <a:latin typeface="Calibri"/>
                        </a:rPr>
                        <a:t>Amazon Bedrock</a:t>
                      </a:r>
                    </a:p>
                    <a:p>
                      <a:r>
                        <a:rPr sz="1300" b="1">
                          <a:solidFill>
                            <a:srgbClr val="003A70"/>
                          </a:solidFill>
                          <a:latin typeface="Calibri"/>
                        </a:rPr>
                        <a:t>Claude Sonnet 4.5</a:t>
                      </a:r>
                    </a:p>
                  </a:txBody>
                  <a:tcPr marL="91440" marR="91440">
                    <a:solidFill>
                      <a:srgbClr val="F2F6FA"/>
                    </a:solidFill>
                  </a:tcPr>
                </a:tc>
                <a:tc>
                  <a:txBody>
                    <a:bodyPr wrap="square"/>
                    <a:lstStyle/>
                    <a:p>
                      <a:r>
                        <a:rPr sz="1300" b="0">
                          <a:solidFill>
                            <a:srgbClr val="003A70"/>
                          </a:solidFill>
                          <a:latin typeface="Calibri"/>
                        </a:rPr>
                        <a:t>Managed model access without running our own; one API for drafting and revisions</a:t>
                      </a:r>
                    </a:p>
                  </a:txBody>
                  <a:tcPr marL="91440" marR="91440">
                    <a:solidFill>
                      <a:srgbClr val="F2F6FA"/>
                    </a:solidFill>
                  </a:tcPr>
                </a:tc>
                <a:tc>
                  <a:txBody>
                    <a:bodyPr wrap="square"/>
                    <a:lstStyle/>
                    <a:p>
                      <a:r>
                        <a:rPr sz="1300" b="0">
                          <a:solidFill>
                            <a:srgbClr val="003A70"/>
                          </a:solidFill>
                          <a:latin typeface="Calibri"/>
                        </a:rPr>
                        <a:t>Access through IAM; pay per token; model is swappable by configuration</a:t>
                      </a:r>
                    </a:p>
                  </a:txBody>
                  <a:tcPr marL="91440" marR="91440">
                    <a:solidFill>
                      <a:srgbClr val="F2F6FA"/>
                    </a:solidFill>
                  </a:tcPr>
                </a:tc>
              </a:tr>
              <a:tr h="768096">
                <a:tc>
                  <a:txBody>
                    <a:bodyPr wrap="square"/>
                    <a:lstStyle/>
                    <a:p>
                      <a:r>
                        <a:rPr sz="1300" b="1">
                          <a:solidFill>
                            <a:srgbClr val="003A70"/>
                          </a:solidFill>
                          <a:latin typeface="Calibri"/>
                        </a:rPr>
                        <a:t>Amazon DynamoDB</a:t>
                      </a:r>
                    </a:p>
                  </a:txBody>
                  <a:tcPr marL="91440" marR="91440">
                    <a:solidFill>
                      <a:srgbClr val="FFFFFF"/>
                    </a:solidFill>
                  </a:tcPr>
                </a:tc>
                <a:tc>
                  <a:txBody>
                    <a:bodyPr wrap="square"/>
                    <a:lstStyle/>
                    <a:p>
                      <a:r>
                        <a:rPr sz="1300" b="0">
                          <a:solidFill>
                            <a:srgbClr val="003A70"/>
                          </a:solidFill>
                          <a:latin typeface="Calibri"/>
                        </a:rPr>
                        <a:t>Shared state for all users; conditional writes stop double approvals; transactions keep the audit chain consistent</a:t>
                      </a:r>
                    </a:p>
                  </a:txBody>
                  <a:tcPr marL="91440" marR="91440">
                    <a:solidFill>
                      <a:srgbClr val="FFFFFF"/>
                    </a:solidFill>
                  </a:tcPr>
                </a:tc>
                <a:tc>
                  <a:txBody>
                    <a:bodyPr wrap="square"/>
                    <a:lstStyle/>
                    <a:p>
                      <a:r>
                        <a:rPr sz="1300" b="0">
                          <a:solidFill>
                            <a:srgbClr val="003A70"/>
                          </a:solidFill>
                          <a:latin typeface="Calibri"/>
                        </a:rPr>
                        <a:t>Managed and durable; low cost at this scale; tested with concurrent writers</a:t>
                      </a:r>
                    </a:p>
                  </a:txBody>
                  <a:tcPr marL="91440" marR="91440">
                    <a:solidFill>
                      <a:srgbClr val="FFFFFF"/>
                    </a:solidFill>
                  </a:tcPr>
                </a:tc>
              </a:tr>
              <a:tr h="768096">
                <a:tc>
                  <a:txBody>
                    <a:bodyPr wrap="square"/>
                    <a:lstStyle/>
                    <a:p>
                      <a:r>
                        <a:rPr sz="1300" b="1">
                          <a:solidFill>
                            <a:srgbClr val="003A70"/>
                          </a:solidFill>
                          <a:latin typeface="Calibri"/>
                        </a:rPr>
                        <a:t>Amazon EC2 + Elastic IP</a:t>
                      </a:r>
                    </a:p>
                  </a:txBody>
                  <a:tcPr marL="91440" marR="91440">
                    <a:solidFill>
                      <a:srgbClr val="F2F6FA"/>
                    </a:solidFill>
                  </a:tcPr>
                </a:tc>
                <a:tc>
                  <a:txBody>
                    <a:bodyPr wrap="square"/>
                    <a:lstStyle/>
                    <a:p>
                      <a:r>
                        <a:rPr sz="1300" b="0">
                          <a:solidFill>
                            <a:srgbClr val="003A70"/>
                          </a:solidFill>
                          <a:latin typeface="Calibri"/>
                        </a:rPr>
                        <a:t>Simple host for the dashboard and API with a stable address for the team</a:t>
                      </a:r>
                    </a:p>
                  </a:txBody>
                  <a:tcPr marL="91440" marR="91440">
                    <a:solidFill>
                      <a:srgbClr val="F2F6FA"/>
                    </a:solidFill>
                  </a:tcPr>
                </a:tc>
                <a:tc>
                  <a:txBody>
                    <a:bodyPr wrap="square"/>
                    <a:lstStyle/>
                    <a:p>
                      <a:r>
                        <a:rPr sz="1300" b="0">
                          <a:solidFill>
                            <a:srgbClr val="003A70"/>
                          </a:solidFill>
                          <a:latin typeface="Calibri"/>
                        </a:rPr>
                        <a:t>Rebuilt from source on every deploy; a security group controls inbound access</a:t>
                      </a:r>
                    </a:p>
                  </a:txBody>
                  <a:tcPr marL="91440" marR="91440">
                    <a:solidFill>
                      <a:srgbClr val="F2F6FA"/>
                    </a:solidFill>
                  </a:tcPr>
                </a:tc>
              </a:tr>
              <a:tr h="768096">
                <a:tc>
                  <a:txBody>
                    <a:bodyPr wrap="square"/>
                    <a:lstStyle/>
                    <a:p>
                      <a:r>
                        <a:rPr sz="1300" b="1">
                          <a:solidFill>
                            <a:srgbClr val="003A70"/>
                          </a:solidFill>
                          <a:latin typeface="Calibri"/>
                        </a:rPr>
                        <a:t>IAM instance role</a:t>
                      </a:r>
                    </a:p>
                  </a:txBody>
                  <a:tcPr marL="91440" marR="91440">
                    <a:solidFill>
                      <a:srgbClr val="FFFFFF"/>
                    </a:solidFill>
                  </a:tcPr>
                </a:tc>
                <a:tc>
                  <a:txBody>
                    <a:bodyPr wrap="square"/>
                    <a:lstStyle/>
                    <a:p>
                      <a:r>
                        <a:rPr sz="1300" b="0">
                          <a:solidFill>
                            <a:srgbClr val="003A70"/>
                          </a:solidFill>
                          <a:latin typeface="Calibri"/>
                        </a:rPr>
                        <a:t>Gives the app Bedrock and DynamoDB access without stored keys</a:t>
                      </a:r>
                    </a:p>
                  </a:txBody>
                  <a:tcPr marL="91440" marR="91440">
                    <a:solidFill>
                      <a:srgbClr val="FFFFFF"/>
                    </a:solidFill>
                  </a:tcPr>
                </a:tc>
                <a:tc>
                  <a:txBody>
                    <a:bodyPr wrap="square"/>
                    <a:lstStyle/>
                    <a:p>
                      <a:r>
                        <a:rPr sz="1300" b="0">
                          <a:solidFill>
                            <a:srgbClr val="003A70"/>
                          </a:solidFill>
                          <a:latin typeface="Calibri"/>
                        </a:rPr>
                        <a:t>No credentials in code or on disk; permissions can be limited to the app's tables and Bedrock</a:t>
                      </a:r>
                    </a:p>
                  </a:txBody>
                  <a:tcPr marL="91440" marR="91440">
                    <a:solidFill>
                      <a:srgbClr val="FFFFFF"/>
                    </a:solidFill>
                  </a:tcPr>
                </a:tc>
              </a:tr>
            </a:tbl>
          </a:graphicData>
        </a:graphic>
      </p:graphicFrame>
      <p:sp>
        <p:nvSpPr>
          <p:cNvPr id="8" name="TextBox 7"/>
          <p:cNvSpPr txBox="1"/>
          <p:nvPr/>
        </p:nvSpPr>
        <p:spPr>
          <a:xfrm>
            <a:off x="548640" y="5760720"/>
            <a:ext cx="11064240" cy="548640"/>
          </a:xfrm>
          <a:prstGeom prst="rect">
            <a:avLst/>
          </a:prstGeom>
          <a:noFill/>
        </p:spPr>
        <p:txBody>
          <a:bodyPr wrap="square" anchor="t" lIns="45720" rIns="45720" tIns="27432" bIns="27432">
            <a:spAutoFit/>
          </a:bodyPr>
          <a:lstStyle/>
          <a:p>
            <a:pPr algn="l">
              <a:spcAft>
                <a:spcPts val="600"/>
              </a:spcAft>
            </a:pPr>
            <a:r>
              <a:rPr sz="1400" b="1">
                <a:solidFill>
                  <a:srgbClr val="0073CF"/>
                </a:solidFill>
                <a:latin typeface="Calibri"/>
              </a:rPr>
              <a:t>Working demo: the live app on AWS shows Bedrock drafts, a shared DynamoDB audit trail and verified records.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692640" cy="1097280"/>
          </a:xfrm>
          <a:prstGeom prst="rect">
            <a:avLst/>
          </a:prstGeom>
          <a:noFill/>
        </p:spPr>
        <p:txBody>
          <a:bodyPr wrap="square" anchor="ctr" lIns="45720" rIns="45720" tIns="27432" bIns="27432">
            <a:spAutoFit/>
          </a:bodyPr>
          <a:lstStyle/>
          <a:p>
            <a:pPr algn="l">
              <a:spcAft>
                <a:spcPts val="600"/>
              </a:spcAft>
            </a:pPr>
            <a:r>
              <a:rPr sz="2800" b="1">
                <a:solidFill>
                  <a:srgbClr val="003A70"/>
                </a:solidFill>
                <a:latin typeface="Calibri"/>
              </a:rPr>
              <a:t>Technical execution: working, tested and concurrency-safe</a:t>
            </a:r>
          </a:p>
        </p:txBody>
      </p:sp>
      <p:sp>
        <p:nvSpPr>
          <p:cNvPr id="3" name="Rectangle 2"/>
          <p:cNvSpPr/>
          <p:nvPr/>
        </p:nvSpPr>
        <p:spPr>
          <a:xfrm>
            <a:off x="548640" y="1481328"/>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46920" y="411480"/>
            <a:ext cx="2194560" cy="365760"/>
          </a:xfrm>
          <a:prstGeom prst="roundRect">
            <a:avLst>
              <a:gd name="adj" fmla="val 50000"/>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Best Technical Execution</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600"/>
              </a:spcAft>
            </a:pPr>
            <a:r>
              <a:rPr sz="1000" b="0">
                <a:solidFill>
                  <a:srgbClr val="5B6B7B"/>
                </a:solidFill>
                <a:latin typeface="Calibri"/>
              </a:rPr>
              <a:t>10</a:t>
            </a:r>
          </a:p>
        </p:txBody>
      </p:sp>
      <p:sp>
        <p:nvSpPr>
          <p:cNvPr id="7" name="Rounded Rectangle 6"/>
          <p:cNvSpPr/>
          <p:nvPr/>
        </p:nvSpPr>
        <p:spPr>
          <a:xfrm>
            <a:off x="548640" y="1783080"/>
            <a:ext cx="2606040" cy="173736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2606040" cy="822960"/>
          </a:xfrm>
          <a:prstGeom prst="rect">
            <a:avLst/>
          </a:prstGeom>
          <a:noFill/>
        </p:spPr>
        <p:txBody>
          <a:bodyPr wrap="square" anchor="t" lIns="45720" rIns="45720" tIns="27432" bIns="27432">
            <a:spAutoFit/>
          </a:bodyPr>
          <a:lstStyle/>
          <a:p>
            <a:pPr algn="ctr">
              <a:spcAft>
                <a:spcPts val="600"/>
              </a:spcAft>
            </a:pPr>
            <a:r>
              <a:rPr sz="4000" b="1">
                <a:solidFill>
                  <a:srgbClr val="003A70"/>
                </a:solidFill>
                <a:latin typeface="Calibri"/>
              </a:rPr>
              <a:t>34</a:t>
            </a:r>
          </a:p>
        </p:txBody>
      </p:sp>
      <p:sp>
        <p:nvSpPr>
          <p:cNvPr id="9" name="TextBox 8"/>
          <p:cNvSpPr txBox="1"/>
          <p:nvPr/>
        </p:nvSpPr>
        <p:spPr>
          <a:xfrm>
            <a:off x="685800" y="2697480"/>
            <a:ext cx="2331720" cy="731520"/>
          </a:xfrm>
          <a:prstGeom prst="rect">
            <a:avLst/>
          </a:prstGeom>
          <a:noFill/>
        </p:spPr>
        <p:txBody>
          <a:bodyPr wrap="square" anchor="t" lIns="45720" rIns="45720" tIns="27432" bIns="27432">
            <a:spAutoFit/>
          </a:bodyPr>
          <a:lstStyle/>
          <a:p>
            <a:pPr algn="ctr">
              <a:spcAft>
                <a:spcPts val="600"/>
              </a:spcAft>
            </a:pPr>
            <a:r>
              <a:rPr sz="1300" b="0">
                <a:solidFill>
                  <a:srgbClr val="003A70"/>
                </a:solidFill>
                <a:latin typeface="Calibri"/>
              </a:rPr>
              <a:t>automated tests: rules, hash chain, auth, full workflow</a:t>
            </a:r>
          </a:p>
        </p:txBody>
      </p:sp>
      <p:sp>
        <p:nvSpPr>
          <p:cNvPr id="10" name="Rounded Rectangle 9"/>
          <p:cNvSpPr/>
          <p:nvPr/>
        </p:nvSpPr>
        <p:spPr>
          <a:xfrm>
            <a:off x="3337560" y="1783080"/>
            <a:ext cx="2606040" cy="173736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1920240"/>
            <a:ext cx="2606040" cy="822960"/>
          </a:xfrm>
          <a:prstGeom prst="rect">
            <a:avLst/>
          </a:prstGeom>
          <a:noFill/>
        </p:spPr>
        <p:txBody>
          <a:bodyPr wrap="square" anchor="t" lIns="45720" rIns="45720" tIns="27432" bIns="27432">
            <a:spAutoFit/>
          </a:bodyPr>
          <a:lstStyle/>
          <a:p>
            <a:pPr algn="ctr">
              <a:spcAft>
                <a:spcPts val="600"/>
              </a:spcAft>
            </a:pPr>
            <a:r>
              <a:rPr sz="4000" b="1">
                <a:solidFill>
                  <a:srgbClr val="003A70"/>
                </a:solidFill>
                <a:latin typeface="Calibri"/>
              </a:rPr>
              <a:t>13</a:t>
            </a:r>
          </a:p>
        </p:txBody>
      </p:sp>
      <p:sp>
        <p:nvSpPr>
          <p:cNvPr id="12" name="TextBox 11"/>
          <p:cNvSpPr txBox="1"/>
          <p:nvPr/>
        </p:nvSpPr>
        <p:spPr>
          <a:xfrm>
            <a:off x="3474720" y="2697480"/>
            <a:ext cx="2331720" cy="731520"/>
          </a:xfrm>
          <a:prstGeom prst="rect">
            <a:avLst/>
          </a:prstGeom>
          <a:noFill/>
        </p:spPr>
        <p:txBody>
          <a:bodyPr wrap="square" anchor="t" lIns="45720" rIns="45720" tIns="27432" bIns="27432">
            <a:spAutoFit/>
          </a:bodyPr>
          <a:lstStyle/>
          <a:p>
            <a:pPr algn="ctr">
              <a:spcAft>
                <a:spcPts val="600"/>
              </a:spcAft>
            </a:pPr>
            <a:r>
              <a:rPr sz="1300" b="0">
                <a:solidFill>
                  <a:srgbClr val="003A70"/>
                </a:solidFill>
                <a:latin typeface="Calibri"/>
              </a:rPr>
              <a:t>deterministic compliance rules</a:t>
            </a:r>
          </a:p>
        </p:txBody>
      </p:sp>
      <p:sp>
        <p:nvSpPr>
          <p:cNvPr id="13" name="Rounded Rectangle 12"/>
          <p:cNvSpPr/>
          <p:nvPr/>
        </p:nvSpPr>
        <p:spPr>
          <a:xfrm>
            <a:off x="6126480" y="1783080"/>
            <a:ext cx="2606040" cy="173736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1920240"/>
            <a:ext cx="2606040" cy="822960"/>
          </a:xfrm>
          <a:prstGeom prst="rect">
            <a:avLst/>
          </a:prstGeom>
          <a:noFill/>
        </p:spPr>
        <p:txBody>
          <a:bodyPr wrap="square" anchor="t" lIns="45720" rIns="45720" tIns="27432" bIns="27432">
            <a:spAutoFit/>
          </a:bodyPr>
          <a:lstStyle/>
          <a:p>
            <a:pPr algn="ctr">
              <a:spcAft>
                <a:spcPts val="600"/>
              </a:spcAft>
            </a:pPr>
            <a:r>
              <a:rPr sz="4000" b="1">
                <a:solidFill>
                  <a:srgbClr val="003A70"/>
                </a:solidFill>
                <a:latin typeface="Calibri"/>
              </a:rPr>
              <a:t>3</a:t>
            </a:r>
          </a:p>
        </p:txBody>
      </p:sp>
      <p:sp>
        <p:nvSpPr>
          <p:cNvPr id="15" name="TextBox 14"/>
          <p:cNvSpPr txBox="1"/>
          <p:nvPr/>
        </p:nvSpPr>
        <p:spPr>
          <a:xfrm>
            <a:off x="6263640" y="2697480"/>
            <a:ext cx="2331720" cy="731520"/>
          </a:xfrm>
          <a:prstGeom prst="rect">
            <a:avLst/>
          </a:prstGeom>
          <a:noFill/>
        </p:spPr>
        <p:txBody>
          <a:bodyPr wrap="square" anchor="t" lIns="45720" rIns="45720" tIns="27432" bIns="27432">
            <a:spAutoFit/>
          </a:bodyPr>
          <a:lstStyle/>
          <a:p>
            <a:pPr algn="ctr">
              <a:spcAft>
                <a:spcPts val="600"/>
              </a:spcAft>
            </a:pPr>
            <a:r>
              <a:rPr sz="1300" b="0">
                <a:solidFill>
                  <a:srgbClr val="003A70"/>
                </a:solidFill>
                <a:latin typeface="Calibri"/>
              </a:rPr>
              <a:t>roles enforced on the server</a:t>
            </a:r>
          </a:p>
        </p:txBody>
      </p:sp>
      <p:sp>
        <p:nvSpPr>
          <p:cNvPr id="16" name="Rounded Rectangle 15"/>
          <p:cNvSpPr/>
          <p:nvPr/>
        </p:nvSpPr>
        <p:spPr>
          <a:xfrm>
            <a:off x="8915400" y="1783080"/>
            <a:ext cx="2651760" cy="173736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15400" y="1920240"/>
            <a:ext cx="2651760" cy="822960"/>
          </a:xfrm>
          <a:prstGeom prst="rect">
            <a:avLst/>
          </a:prstGeom>
          <a:noFill/>
        </p:spPr>
        <p:txBody>
          <a:bodyPr wrap="square" anchor="t" lIns="45720" rIns="45720" tIns="27432" bIns="27432">
            <a:spAutoFit/>
          </a:bodyPr>
          <a:lstStyle/>
          <a:p>
            <a:pPr algn="ctr">
              <a:spcAft>
                <a:spcPts val="600"/>
              </a:spcAft>
            </a:pPr>
            <a:r>
              <a:rPr sz="4000" b="1">
                <a:solidFill>
                  <a:srgbClr val="003A70"/>
                </a:solidFill>
                <a:latin typeface="Calibri"/>
              </a:rPr>
              <a:t>0</a:t>
            </a:r>
          </a:p>
        </p:txBody>
      </p:sp>
      <p:sp>
        <p:nvSpPr>
          <p:cNvPr id="18" name="TextBox 17"/>
          <p:cNvSpPr txBox="1"/>
          <p:nvPr/>
        </p:nvSpPr>
        <p:spPr>
          <a:xfrm>
            <a:off x="9052560" y="2697480"/>
            <a:ext cx="2377440" cy="731520"/>
          </a:xfrm>
          <a:prstGeom prst="rect">
            <a:avLst/>
          </a:prstGeom>
          <a:noFill/>
        </p:spPr>
        <p:txBody>
          <a:bodyPr wrap="square" anchor="t" lIns="45720" rIns="45720" tIns="27432" bIns="27432">
            <a:spAutoFit/>
          </a:bodyPr>
          <a:lstStyle/>
          <a:p>
            <a:pPr algn="ctr">
              <a:spcAft>
                <a:spcPts val="600"/>
              </a:spcAft>
            </a:pPr>
            <a:r>
              <a:rPr sz="1300" b="0">
                <a:solidFill>
                  <a:srgbClr val="003A70"/>
                </a:solidFill>
                <a:latin typeface="Calibri"/>
              </a:rPr>
              <a:t>AWS keys stored on the server</a:t>
            </a:r>
          </a:p>
        </p:txBody>
      </p:sp>
      <p:sp>
        <p:nvSpPr>
          <p:cNvPr id="19" name="TextBox 18"/>
          <p:cNvSpPr txBox="1"/>
          <p:nvPr/>
        </p:nvSpPr>
        <p:spPr>
          <a:xfrm>
            <a:off x="548640" y="3840480"/>
            <a:ext cx="11064240" cy="2468880"/>
          </a:xfrm>
          <a:prstGeom prst="rect">
            <a:avLst/>
          </a:prstGeom>
          <a:noFill/>
        </p:spPr>
        <p:txBody>
          <a:bodyPr wrap="square" anchor="t" lIns="45720" rIns="45720" tIns="27432" bIns="27432">
            <a:spAutoFit/>
          </a:bodyPr>
          <a:lstStyle/>
          <a:p>
            <a:pPr algn="l">
              <a:spcAft>
                <a:spcPts val="800"/>
              </a:spcAft>
            </a:pPr>
            <a:r>
              <a:rPr sz="1600" b="0">
                <a:solidFill>
                  <a:srgbClr val="003A70"/>
                </a:solidFill>
                <a:latin typeface="Calibri"/>
              </a:rPr>
              <a:t>•  Race-proof approvals: two advisors approving the same request at once, one succeeds and one gets a conflict (tested on DynamoDB)</a:t>
            </a:r>
          </a:p>
          <a:p>
            <a:pPr algn="l">
              <a:spcAft>
                <a:spcPts val="800"/>
              </a:spcAft>
            </a:pPr>
            <a:r>
              <a:rPr sz="1600" b="0">
                <a:solidFill>
                  <a:srgbClr val="003A70"/>
                </a:solidFill>
                <a:latin typeface="Calibri"/>
              </a:rPr>
              <a:t>•  Tamper-evident audit: entry and head pointer written in one transaction; six simultaneous writers kept the chain valid</a:t>
            </a:r>
          </a:p>
          <a:p>
            <a:pPr algn="l">
              <a:spcAft>
                <a:spcPts val="800"/>
              </a:spcAft>
            </a:pPr>
            <a:r>
              <a:rPr sz="1600" b="0">
                <a:solidFill>
                  <a:srgbClr val="003A70"/>
                </a:solidFill>
                <a:latin typeface="Calibri"/>
              </a:rPr>
              <a:t>•  Failure safety: if an audit entry cannot be written, the state change is rolled back</a:t>
            </a:r>
          </a:p>
          <a:p>
            <a:pPr algn="l">
              <a:spcAft>
                <a:spcPts val="800"/>
              </a:spcAft>
            </a:pPr>
            <a:r>
              <a:rPr sz="1600" b="0">
                <a:solidFill>
                  <a:srgbClr val="003A70"/>
                </a:solidFill>
                <a:latin typeface="Calibri"/>
              </a:rPr>
              <a:t>•  Shipped like a product: CI/CD to AWS on every push, API reference, data model and architecture docs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692640" cy="1097280"/>
          </a:xfrm>
          <a:prstGeom prst="rect">
            <a:avLst/>
          </a:prstGeom>
          <a:noFill/>
        </p:spPr>
        <p:txBody>
          <a:bodyPr wrap="square" anchor="ctr" lIns="45720" rIns="45720" tIns="27432" bIns="27432">
            <a:spAutoFit/>
          </a:bodyPr>
          <a:lstStyle/>
          <a:p>
            <a:pPr algn="l">
              <a:spcAft>
                <a:spcPts val="600"/>
              </a:spcAft>
            </a:pPr>
            <a:r>
              <a:rPr sz="2800" b="1">
                <a:solidFill>
                  <a:srgbClr val="003A70"/>
                </a:solidFill>
                <a:latin typeface="Calibri"/>
              </a:rPr>
              <a:t>Why someone would buy it, and what makes it different</a:t>
            </a:r>
          </a:p>
        </p:txBody>
      </p:sp>
      <p:sp>
        <p:nvSpPr>
          <p:cNvPr id="3" name="Rectangle 2"/>
          <p:cNvSpPr/>
          <p:nvPr/>
        </p:nvSpPr>
        <p:spPr>
          <a:xfrm>
            <a:off x="548640" y="1481328"/>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46920" y="411480"/>
            <a:ext cx="2194560" cy="365760"/>
          </a:xfrm>
          <a:prstGeom prst="roundRect">
            <a:avLst>
              <a:gd name="adj" fmla="val 50000"/>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Startup We'd Buy Tomorrow</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600"/>
              </a:spcAft>
            </a:pPr>
            <a:r>
              <a:rPr sz="1000" b="0">
                <a:solidFill>
                  <a:srgbClr val="5B6B7B"/>
                </a:solidFill>
                <a:latin typeface="Calibri"/>
              </a:rPr>
              <a:t>11</a:t>
            </a:r>
          </a:p>
        </p:txBody>
      </p:sp>
      <p:graphicFrame>
        <p:nvGraphicFramePr>
          <p:cNvPr id="7" name="Table 6"/>
          <p:cNvGraphicFramePr>
            <a:graphicFrameLocks noGrp="1"/>
          </p:cNvGraphicFramePr>
          <p:nvPr/>
        </p:nvGraphicFramePr>
        <p:xfrm>
          <a:off x="548640" y="1783080"/>
          <a:ext cx="11064239" cy="3017520"/>
        </p:xfrm>
        <a:graphic>
          <a:graphicData uri="http://schemas.openxmlformats.org/drawingml/2006/table">
            <a:tbl>
              <a:tblPr firstRow="1" bandRow="1">
                <a:tableStyleId>{5C22544A-7EE6-4342-B048-85BDC9FD1C3A}</a:tableStyleId>
              </a:tblPr>
              <a:tblGrid>
                <a:gridCol w="3749039"/>
                <a:gridCol w="2377440"/>
                <a:gridCol w="2377440"/>
                <a:gridCol w="2560320"/>
              </a:tblGrid>
              <a:tr h="502920">
                <a:tc>
                  <a:txBody>
                    <a:bodyPr wrap="square"/>
                    <a:lstStyle/>
                    <a:p>
                      <a:r>
                        <a:rPr sz="1300" b="1">
                          <a:solidFill>
                            <a:srgbClr val="FFFFFF"/>
                          </a:solidFill>
                          <a:latin typeface="Calibri"/>
                        </a:rPr>
                        <a:t/>
                      </a:r>
                    </a:p>
                  </a:txBody>
                  <a:tcPr>
                    <a:solidFill>
                      <a:srgbClr val="003A70"/>
                    </a:solidFill>
                  </a:tcPr>
                </a:tc>
                <a:tc>
                  <a:txBody>
                    <a:bodyPr wrap="square"/>
                    <a:lstStyle/>
                    <a:p>
                      <a:r>
                        <a:rPr sz="1300" b="1">
                          <a:solidFill>
                            <a:srgbClr val="FFFFFF"/>
                          </a:solidFill>
                          <a:latin typeface="Calibri"/>
                        </a:rPr>
                        <a:t>General-purpose AI chat</a:t>
                      </a:r>
                    </a:p>
                  </a:txBody>
                  <a:tcPr>
                    <a:solidFill>
                      <a:srgbClr val="003A70"/>
                    </a:solidFill>
                  </a:tcPr>
                </a:tc>
                <a:tc>
                  <a:txBody>
                    <a:bodyPr wrap="square"/>
                    <a:lstStyle/>
                    <a:p>
                      <a:r>
                        <a:rPr sz="1300" b="1">
                          <a:solidFill>
                            <a:srgbClr val="FFFFFF"/>
                          </a:solidFill>
                          <a:latin typeface="Calibri"/>
                        </a:rPr>
                        <a:t>CRM document templates</a:t>
                      </a:r>
                    </a:p>
                  </a:txBody>
                  <a:tcPr>
                    <a:solidFill>
                      <a:srgbClr val="003A70"/>
                    </a:solidFill>
                  </a:tcPr>
                </a:tc>
                <a:tc>
                  <a:txBody>
                    <a:bodyPr wrap="square"/>
                    <a:lstStyle/>
                    <a:p>
                      <a:r>
                        <a:rPr sz="1300" b="1">
                          <a:solidFill>
                            <a:srgbClr val="FFFFFF"/>
                          </a:solidFill>
                          <a:latin typeface="Calibri"/>
                        </a:rPr>
                        <a:t>LPL Delegation Assistant</a:t>
                      </a:r>
                    </a:p>
                  </a:txBody>
                  <a:tcPr>
                    <a:solidFill>
                      <a:srgbClr val="003A70"/>
                    </a:solidFill>
                  </a:tcPr>
                </a:tc>
              </a:tr>
              <a:tr h="502920">
                <a:tc>
                  <a:txBody>
                    <a:bodyPr wrap="square"/>
                    <a:lstStyle/>
                    <a:p>
                      <a:r>
                        <a:rPr sz="1300" b="1">
                          <a:solidFill>
                            <a:srgbClr val="003A70"/>
                          </a:solidFill>
                          <a:latin typeface="Calibri"/>
                        </a:rPr>
                        <a:t>Drafts client documents</a:t>
                      </a:r>
                    </a:p>
                  </a:txBody>
                  <a:tcPr>
                    <a:solidFill>
                      <a:srgbClr val="F2F6FA"/>
                    </a:solidFill>
                  </a:tcPr>
                </a:tc>
                <a:tc>
                  <a:txBody>
                    <a:bodyPr wrap="square"/>
                    <a:lstStyle/>
                    <a:p>
                      <a:r>
                        <a:rPr sz="1300" b="0">
                          <a:solidFill>
                            <a:srgbClr val="003A70"/>
                          </a:solidFill>
                          <a:latin typeface="Calibri"/>
                        </a:rPr>
                        <a:t>Yes</a:t>
                      </a:r>
                    </a:p>
                  </a:txBody>
                  <a:tcPr>
                    <a:solidFill>
                      <a:srgbClr val="F2F6FA"/>
                    </a:solidFill>
                  </a:tcPr>
                </a:tc>
                <a:tc>
                  <a:txBody>
                    <a:bodyPr wrap="square"/>
                    <a:lstStyle/>
                    <a:p>
                      <a:r>
                        <a:rPr sz="1300" b="0">
                          <a:solidFill>
                            <a:srgbClr val="003A70"/>
                          </a:solidFill>
                          <a:latin typeface="Calibri"/>
                        </a:rPr>
                        <a:t>Limited</a:t>
                      </a:r>
                    </a:p>
                  </a:txBody>
                  <a:tcPr>
                    <a:solidFill>
                      <a:srgbClr val="F2F6FA"/>
                    </a:solidFill>
                  </a:tcPr>
                </a:tc>
                <a:tc>
                  <a:txBody>
                    <a:bodyPr wrap="square"/>
                    <a:lstStyle/>
                    <a:p>
                      <a:r>
                        <a:rPr sz="1300" b="1">
                          <a:solidFill>
                            <a:srgbClr val="003A70"/>
                          </a:solidFill>
                          <a:latin typeface="Calibri"/>
                        </a:rPr>
                        <a:t>Yes</a:t>
                      </a:r>
                    </a:p>
                  </a:txBody>
                  <a:tcPr>
                    <a:solidFill>
                      <a:srgbClr val="E3F4DB"/>
                    </a:solidFill>
                  </a:tcPr>
                </a:tc>
              </a:tr>
              <a:tr h="502920">
                <a:tc>
                  <a:txBody>
                    <a:bodyPr wrap="square"/>
                    <a:lstStyle/>
                    <a:p>
                      <a:r>
                        <a:rPr sz="1300" b="1">
                          <a:solidFill>
                            <a:srgbClr val="003A70"/>
                          </a:solidFill>
                          <a:latin typeface="Calibri"/>
                        </a:rPr>
                        <a:t>Automated compliance checks</a:t>
                      </a:r>
                    </a:p>
                  </a:txBody>
                  <a:tcPr>
                    <a:solidFill>
                      <a:srgbClr val="FFFFFF"/>
                    </a:solidFill>
                  </a:tcPr>
                </a:tc>
                <a:tc>
                  <a:txBody>
                    <a:bodyPr wrap="square"/>
                    <a:lstStyle/>
                    <a:p>
                      <a:r>
                        <a:rPr sz="1300" b="0">
                          <a:solidFill>
                            <a:srgbClr val="003A70"/>
                          </a:solidFill>
                          <a:latin typeface="Calibri"/>
                        </a:rPr>
                        <a:t>Typically no</a:t>
                      </a:r>
                    </a:p>
                  </a:txBody>
                  <a:tcPr>
                    <a:solidFill>
                      <a:srgbClr val="FFFFFF"/>
                    </a:solidFill>
                  </a:tcPr>
                </a:tc>
                <a:tc>
                  <a:txBody>
                    <a:bodyPr wrap="square"/>
                    <a:lstStyle/>
                    <a:p>
                      <a:r>
                        <a:rPr sz="1300" b="0">
                          <a:solidFill>
                            <a:srgbClr val="003A70"/>
                          </a:solidFill>
                          <a:latin typeface="Calibri"/>
                        </a:rPr>
                        <a:t>Typically no</a:t>
                      </a:r>
                    </a:p>
                  </a:txBody>
                  <a:tcPr>
                    <a:solidFill>
                      <a:srgbClr val="FFFFFF"/>
                    </a:solidFill>
                  </a:tcPr>
                </a:tc>
                <a:tc>
                  <a:txBody>
                    <a:bodyPr wrap="square"/>
                    <a:lstStyle/>
                    <a:p>
                      <a:r>
                        <a:rPr sz="1300" b="1">
                          <a:solidFill>
                            <a:srgbClr val="003A70"/>
                          </a:solidFill>
                          <a:latin typeface="Calibri"/>
                        </a:rPr>
                        <a:t>Yes, 13 rules</a:t>
                      </a:r>
                    </a:p>
                  </a:txBody>
                  <a:tcPr>
                    <a:solidFill>
                      <a:srgbClr val="E3F4DB"/>
                    </a:solidFill>
                  </a:tcPr>
                </a:tc>
              </a:tr>
              <a:tr h="502920">
                <a:tc>
                  <a:txBody>
                    <a:bodyPr wrap="square"/>
                    <a:lstStyle/>
                    <a:p>
                      <a:r>
                        <a:rPr sz="1300" b="1">
                          <a:solidFill>
                            <a:srgbClr val="003A70"/>
                          </a:solidFill>
                          <a:latin typeface="Calibri"/>
                        </a:rPr>
                        <a:t>Advisor then principal approval</a:t>
                      </a:r>
                    </a:p>
                  </a:txBody>
                  <a:tcPr>
                    <a:solidFill>
                      <a:srgbClr val="F2F6FA"/>
                    </a:solidFill>
                  </a:tcPr>
                </a:tc>
                <a:tc>
                  <a:txBody>
                    <a:bodyPr wrap="square"/>
                    <a:lstStyle/>
                    <a:p>
                      <a:r>
                        <a:rPr sz="1300" b="0">
                          <a:solidFill>
                            <a:srgbClr val="003A70"/>
                          </a:solidFill>
                          <a:latin typeface="Calibri"/>
                        </a:rPr>
                        <a:t>No</a:t>
                      </a:r>
                    </a:p>
                  </a:txBody>
                  <a:tcPr>
                    <a:solidFill>
                      <a:srgbClr val="F2F6FA"/>
                    </a:solidFill>
                  </a:tcPr>
                </a:tc>
                <a:tc>
                  <a:txBody>
                    <a:bodyPr wrap="square"/>
                    <a:lstStyle/>
                    <a:p>
                      <a:r>
                        <a:rPr sz="1300" b="0">
                          <a:solidFill>
                            <a:srgbClr val="003A70"/>
                          </a:solidFill>
                          <a:latin typeface="Calibri"/>
                        </a:rPr>
                        <a:t>Varies</a:t>
                      </a:r>
                    </a:p>
                  </a:txBody>
                  <a:tcPr>
                    <a:solidFill>
                      <a:srgbClr val="F2F6FA"/>
                    </a:solidFill>
                  </a:tcPr>
                </a:tc>
                <a:tc>
                  <a:txBody>
                    <a:bodyPr wrap="square"/>
                    <a:lstStyle/>
                    <a:p>
                      <a:r>
                        <a:rPr sz="1300" b="1">
                          <a:solidFill>
                            <a:srgbClr val="003A70"/>
                          </a:solidFill>
                          <a:latin typeface="Calibri"/>
                        </a:rPr>
                        <a:t>Yes, enforced</a:t>
                      </a:r>
                    </a:p>
                  </a:txBody>
                  <a:tcPr>
                    <a:solidFill>
                      <a:srgbClr val="E3F4DB"/>
                    </a:solidFill>
                  </a:tcPr>
                </a:tc>
              </a:tr>
              <a:tr h="502920">
                <a:tc>
                  <a:txBody>
                    <a:bodyPr wrap="square"/>
                    <a:lstStyle/>
                    <a:p>
                      <a:r>
                        <a:rPr sz="1300" b="1">
                          <a:solidFill>
                            <a:srgbClr val="003A70"/>
                          </a:solidFill>
                          <a:latin typeface="Calibri"/>
                        </a:rPr>
                        <a:t>Tamper-evident record of every step</a:t>
                      </a:r>
                    </a:p>
                  </a:txBody>
                  <a:tcPr>
                    <a:solidFill>
                      <a:srgbClr val="FFFFFF"/>
                    </a:solidFill>
                  </a:tcPr>
                </a:tc>
                <a:tc>
                  <a:txBody>
                    <a:bodyPr wrap="square"/>
                    <a:lstStyle/>
                    <a:p>
                      <a:r>
                        <a:rPr sz="1300" b="0">
                          <a:solidFill>
                            <a:srgbClr val="003A70"/>
                          </a:solidFill>
                          <a:latin typeface="Calibri"/>
                        </a:rPr>
                        <a:t>No</a:t>
                      </a:r>
                    </a:p>
                  </a:txBody>
                  <a:tcPr>
                    <a:solidFill>
                      <a:srgbClr val="FFFFFF"/>
                    </a:solidFill>
                  </a:tcPr>
                </a:tc>
                <a:tc>
                  <a:txBody>
                    <a:bodyPr wrap="square"/>
                    <a:lstStyle/>
                    <a:p>
                      <a:r>
                        <a:rPr sz="1300" b="0">
                          <a:solidFill>
                            <a:srgbClr val="003A70"/>
                          </a:solidFill>
                          <a:latin typeface="Calibri"/>
                        </a:rPr>
                        <a:t>Varies</a:t>
                      </a:r>
                    </a:p>
                  </a:txBody>
                  <a:tcPr>
                    <a:solidFill>
                      <a:srgbClr val="FFFFFF"/>
                    </a:solidFill>
                  </a:tcPr>
                </a:tc>
                <a:tc>
                  <a:txBody>
                    <a:bodyPr wrap="square"/>
                    <a:lstStyle/>
                    <a:p>
                      <a:r>
                        <a:rPr sz="1300" b="1">
                          <a:solidFill>
                            <a:srgbClr val="003A70"/>
                          </a:solidFill>
                          <a:latin typeface="Calibri"/>
                        </a:rPr>
                        <a:t>Yes, hash-chained</a:t>
                      </a:r>
                    </a:p>
                  </a:txBody>
                  <a:tcPr>
                    <a:solidFill>
                      <a:srgbClr val="E3F4DB"/>
                    </a:solidFill>
                  </a:tcPr>
                </a:tc>
              </a:tr>
              <a:tr h="502920">
                <a:tc>
                  <a:txBody>
                    <a:bodyPr wrap="square"/>
                    <a:lstStyle/>
                    <a:p>
                      <a:r>
                        <a:rPr sz="1300" b="1">
                          <a:solidFill>
                            <a:srgbClr val="003A70"/>
                          </a:solidFill>
                          <a:latin typeface="Calibri"/>
                        </a:rPr>
                        <a:t>Runs inside the firm's AWS account</a:t>
                      </a:r>
                    </a:p>
                  </a:txBody>
                  <a:tcPr>
                    <a:solidFill>
                      <a:srgbClr val="F2F6FA"/>
                    </a:solidFill>
                  </a:tcPr>
                </a:tc>
                <a:tc>
                  <a:txBody>
                    <a:bodyPr wrap="square"/>
                    <a:lstStyle/>
                    <a:p>
                      <a:r>
                        <a:rPr sz="1300" b="0">
                          <a:solidFill>
                            <a:srgbClr val="003A70"/>
                          </a:solidFill>
                          <a:latin typeface="Calibri"/>
                        </a:rPr>
                        <a:t>No</a:t>
                      </a:r>
                    </a:p>
                  </a:txBody>
                  <a:tcPr>
                    <a:solidFill>
                      <a:srgbClr val="F2F6FA"/>
                    </a:solidFill>
                  </a:tcPr>
                </a:tc>
                <a:tc>
                  <a:txBody>
                    <a:bodyPr wrap="square"/>
                    <a:lstStyle/>
                    <a:p>
                      <a:r>
                        <a:rPr sz="1300" b="0">
                          <a:solidFill>
                            <a:srgbClr val="003A70"/>
                          </a:solidFill>
                          <a:latin typeface="Calibri"/>
                        </a:rPr>
                        <a:t>Varies</a:t>
                      </a:r>
                    </a:p>
                  </a:txBody>
                  <a:tcPr>
                    <a:solidFill>
                      <a:srgbClr val="F2F6FA"/>
                    </a:solidFill>
                  </a:tcPr>
                </a:tc>
                <a:tc>
                  <a:txBody>
                    <a:bodyPr wrap="square"/>
                    <a:lstStyle/>
                    <a:p>
                      <a:r>
                        <a:rPr sz="1300" b="1">
                          <a:solidFill>
                            <a:srgbClr val="003A70"/>
                          </a:solidFill>
                          <a:latin typeface="Calibri"/>
                        </a:rPr>
                        <a:t>Yes</a:t>
                      </a:r>
                    </a:p>
                  </a:txBody>
                  <a:tcPr>
                    <a:solidFill>
                      <a:srgbClr val="E3F4DB"/>
                    </a:solidFill>
                  </a:tcPr>
                </a:tc>
              </a:tr>
            </a:tbl>
          </a:graphicData>
        </a:graphic>
      </p:graphicFrame>
      <p:sp>
        <p:nvSpPr>
          <p:cNvPr id="8" name="Rounded Rectangle 7"/>
          <p:cNvSpPr/>
          <p:nvPr/>
        </p:nvSpPr>
        <p:spPr>
          <a:xfrm>
            <a:off x="548640" y="5029200"/>
            <a:ext cx="11064240" cy="123444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074920"/>
            <a:ext cx="10698480" cy="1143000"/>
          </a:xfrm>
          <a:prstGeom prst="rect">
            <a:avLst/>
          </a:prstGeom>
          <a:noFill/>
        </p:spPr>
        <p:txBody>
          <a:bodyPr wrap="square" anchor="ctr" lIns="45720" rIns="45720" tIns="27432" bIns="27432">
            <a:spAutoFit/>
          </a:bodyPr>
          <a:lstStyle/>
          <a:p>
            <a:pPr algn="l">
              <a:spcAft>
                <a:spcPts val="500"/>
              </a:spcAft>
            </a:pPr>
            <a:r>
              <a:rPr sz="1500" b="1">
                <a:solidFill>
                  <a:srgbClr val="003A70"/>
                </a:solidFill>
                <a:latin typeface="Calibri"/>
              </a:rPr>
              <a:t>Business model (proposed): per-advisor monthly subscription, with a compliance-team tier for supervision and records.</a:t>
            </a:r>
          </a:p>
          <a:p>
            <a:pPr algn="l">
              <a:spcAft>
                <a:spcPts val="500"/>
              </a:spcAft>
            </a:pPr>
            <a:r>
              <a:rPr sz="1400" b="0">
                <a:solidFill>
                  <a:srgbClr val="003A70"/>
                </a:solidFill>
                <a:latin typeface="Calibri"/>
              </a:rPr>
              <a:t>Go to market: pilot with one broker-dealer compliance team, measure time saved and review quality, then expand by branch or practice.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692640" cy="1097280"/>
          </a:xfrm>
          <a:prstGeom prst="rect">
            <a:avLst/>
          </a:prstGeom>
          <a:noFill/>
        </p:spPr>
        <p:txBody>
          <a:bodyPr wrap="square" anchor="ctr" lIns="45720" rIns="45720" tIns="27432" bIns="27432">
            <a:spAutoFit/>
          </a:bodyPr>
          <a:lstStyle/>
          <a:p>
            <a:pPr algn="l">
              <a:spcAft>
                <a:spcPts val="600"/>
              </a:spcAft>
            </a:pPr>
            <a:r>
              <a:rPr sz="2800" b="1">
                <a:solidFill>
                  <a:srgbClr val="003A70"/>
                </a:solidFill>
                <a:latin typeface="Calibri"/>
              </a:rPr>
              <a:t>Business impact: faster documents, safer communications</a:t>
            </a:r>
          </a:p>
        </p:txBody>
      </p:sp>
      <p:sp>
        <p:nvSpPr>
          <p:cNvPr id="3" name="Rectangle 2"/>
          <p:cNvSpPr/>
          <p:nvPr/>
        </p:nvSpPr>
        <p:spPr>
          <a:xfrm>
            <a:off x="548640" y="1481328"/>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46920" y="411480"/>
            <a:ext cx="2194560" cy="365760"/>
          </a:xfrm>
          <a:prstGeom prst="roundRect">
            <a:avLst>
              <a:gd name="adj" fmla="val 50000"/>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Startup We'd Buy Tomorrow</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600"/>
              </a:spcAft>
            </a:pPr>
            <a:r>
              <a:rPr sz="1000" b="0">
                <a:solidFill>
                  <a:srgbClr val="5B6B7B"/>
                </a:solidFill>
                <a:latin typeface="Calibri"/>
              </a:rPr>
              <a:t>12</a:t>
            </a:r>
          </a:p>
        </p:txBody>
      </p:sp>
      <p:sp>
        <p:nvSpPr>
          <p:cNvPr id="7" name="Rounded Rectangle 6"/>
          <p:cNvSpPr/>
          <p:nvPr/>
        </p:nvSpPr>
        <p:spPr>
          <a:xfrm>
            <a:off x="548640" y="1783080"/>
            <a:ext cx="2606040" cy="173736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2606040" cy="822960"/>
          </a:xfrm>
          <a:prstGeom prst="rect">
            <a:avLst/>
          </a:prstGeom>
          <a:noFill/>
        </p:spPr>
        <p:txBody>
          <a:bodyPr wrap="square" anchor="t" lIns="45720" rIns="45720" tIns="27432" bIns="27432">
            <a:spAutoFit/>
          </a:bodyPr>
          <a:lstStyle/>
          <a:p>
            <a:pPr algn="ctr">
              <a:spcAft>
                <a:spcPts val="600"/>
              </a:spcAft>
            </a:pPr>
            <a:r>
              <a:rPr sz="4000" b="1">
                <a:solidFill>
                  <a:srgbClr val="0073CF"/>
                </a:solidFill>
                <a:latin typeface="Calibri"/>
              </a:rPr>
              <a:t>5 hrs</a:t>
            </a:r>
          </a:p>
        </p:txBody>
      </p:sp>
      <p:sp>
        <p:nvSpPr>
          <p:cNvPr id="9" name="TextBox 8"/>
          <p:cNvSpPr txBox="1"/>
          <p:nvPr/>
        </p:nvSpPr>
        <p:spPr>
          <a:xfrm>
            <a:off x="685800" y="2697480"/>
            <a:ext cx="2331720" cy="731520"/>
          </a:xfrm>
          <a:prstGeom prst="rect">
            <a:avLst/>
          </a:prstGeom>
          <a:noFill/>
        </p:spPr>
        <p:txBody>
          <a:bodyPr wrap="square" anchor="t" lIns="45720" rIns="45720" tIns="27432" bIns="27432">
            <a:spAutoFit/>
          </a:bodyPr>
          <a:lstStyle/>
          <a:p>
            <a:pPr algn="ctr">
              <a:spcAft>
                <a:spcPts val="600"/>
              </a:spcAft>
            </a:pPr>
            <a:r>
              <a:rPr sz="1300" b="0">
                <a:solidFill>
                  <a:srgbClr val="003A70"/>
                </a:solidFill>
                <a:latin typeface="Calibri"/>
              </a:rPr>
              <a:t>saved per advisor per week</a:t>
            </a:r>
          </a:p>
        </p:txBody>
      </p:sp>
      <p:sp>
        <p:nvSpPr>
          <p:cNvPr id="10" name="TextBox 9"/>
          <p:cNvSpPr txBox="1"/>
          <p:nvPr/>
        </p:nvSpPr>
        <p:spPr>
          <a:xfrm>
            <a:off x="548640" y="3566160"/>
            <a:ext cx="2606040" cy="274320"/>
          </a:xfrm>
          <a:prstGeom prst="rect">
            <a:avLst/>
          </a:prstGeom>
          <a:noFill/>
        </p:spPr>
        <p:txBody>
          <a:bodyPr wrap="square" anchor="t" lIns="45720" rIns="45720" tIns="27432" bIns="27432">
            <a:spAutoFit/>
          </a:bodyPr>
          <a:lstStyle/>
          <a:p>
            <a:pPr algn="ctr">
              <a:spcAft>
                <a:spcPts val="600"/>
              </a:spcAft>
            </a:pPr>
            <a:r>
              <a:rPr sz="1000" b="0">
                <a:solidFill>
                  <a:srgbClr val="B8510D"/>
                </a:solidFill>
                <a:latin typeface="Calibri"/>
              </a:rPr>
              <a:t>Illustrative: 20 documents x 15 minutes</a:t>
            </a:r>
          </a:p>
        </p:txBody>
      </p:sp>
      <p:sp>
        <p:nvSpPr>
          <p:cNvPr id="11" name="Rounded Rectangle 10"/>
          <p:cNvSpPr/>
          <p:nvPr/>
        </p:nvSpPr>
        <p:spPr>
          <a:xfrm>
            <a:off x="3337560" y="1783080"/>
            <a:ext cx="2606040" cy="173736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37560" y="1920240"/>
            <a:ext cx="2606040" cy="822960"/>
          </a:xfrm>
          <a:prstGeom prst="rect">
            <a:avLst/>
          </a:prstGeom>
          <a:noFill/>
        </p:spPr>
        <p:txBody>
          <a:bodyPr wrap="square" anchor="t" lIns="45720" rIns="45720" tIns="27432" bIns="27432">
            <a:spAutoFit/>
          </a:bodyPr>
          <a:lstStyle/>
          <a:p>
            <a:pPr algn="ctr">
              <a:spcAft>
                <a:spcPts val="600"/>
              </a:spcAft>
            </a:pPr>
            <a:r>
              <a:rPr sz="4000" b="1">
                <a:solidFill>
                  <a:srgbClr val="0073CF"/>
                </a:solidFill>
                <a:latin typeface="Calibri"/>
              </a:rPr>
              <a:t>5,000 hrs</a:t>
            </a:r>
          </a:p>
        </p:txBody>
      </p:sp>
      <p:sp>
        <p:nvSpPr>
          <p:cNvPr id="13" name="TextBox 12"/>
          <p:cNvSpPr txBox="1"/>
          <p:nvPr/>
        </p:nvSpPr>
        <p:spPr>
          <a:xfrm>
            <a:off x="3474720" y="2697480"/>
            <a:ext cx="2331720" cy="731520"/>
          </a:xfrm>
          <a:prstGeom prst="rect">
            <a:avLst/>
          </a:prstGeom>
          <a:noFill/>
        </p:spPr>
        <p:txBody>
          <a:bodyPr wrap="square" anchor="t" lIns="45720" rIns="45720" tIns="27432" bIns="27432">
            <a:spAutoFit/>
          </a:bodyPr>
          <a:lstStyle/>
          <a:p>
            <a:pPr algn="ctr">
              <a:spcAft>
                <a:spcPts val="600"/>
              </a:spcAft>
            </a:pPr>
            <a:r>
              <a:rPr sz="1300" b="0">
                <a:solidFill>
                  <a:srgbClr val="003A70"/>
                </a:solidFill>
                <a:latin typeface="Calibri"/>
              </a:rPr>
              <a:t>per week across 1,000 advisors</a:t>
            </a:r>
          </a:p>
        </p:txBody>
      </p:sp>
      <p:sp>
        <p:nvSpPr>
          <p:cNvPr id="14" name="TextBox 13"/>
          <p:cNvSpPr txBox="1"/>
          <p:nvPr/>
        </p:nvSpPr>
        <p:spPr>
          <a:xfrm>
            <a:off x="3337560" y="3566160"/>
            <a:ext cx="2606040" cy="274320"/>
          </a:xfrm>
          <a:prstGeom prst="rect">
            <a:avLst/>
          </a:prstGeom>
          <a:noFill/>
        </p:spPr>
        <p:txBody>
          <a:bodyPr wrap="square" anchor="t" lIns="45720" rIns="45720" tIns="27432" bIns="27432">
            <a:spAutoFit/>
          </a:bodyPr>
          <a:lstStyle/>
          <a:p>
            <a:pPr algn="ctr">
              <a:spcAft>
                <a:spcPts val="600"/>
              </a:spcAft>
            </a:pPr>
            <a:r>
              <a:rPr sz="1000" b="0">
                <a:solidFill>
                  <a:srgbClr val="B8510D"/>
                </a:solidFill>
                <a:latin typeface="Calibri"/>
              </a:rPr>
              <a:t>Illustrative: to validate in a pilot</a:t>
            </a:r>
          </a:p>
        </p:txBody>
      </p:sp>
      <p:sp>
        <p:nvSpPr>
          <p:cNvPr id="15" name="Rounded Rectangle 14"/>
          <p:cNvSpPr/>
          <p:nvPr/>
        </p:nvSpPr>
        <p:spPr>
          <a:xfrm>
            <a:off x="6126480" y="1783080"/>
            <a:ext cx="2606040" cy="173736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1920240"/>
            <a:ext cx="2606040" cy="822960"/>
          </a:xfrm>
          <a:prstGeom prst="rect">
            <a:avLst/>
          </a:prstGeom>
          <a:noFill/>
        </p:spPr>
        <p:txBody>
          <a:bodyPr wrap="square" anchor="t" lIns="45720" rIns="45720" tIns="27432" bIns="27432">
            <a:spAutoFit/>
          </a:bodyPr>
          <a:lstStyle/>
          <a:p>
            <a:pPr algn="ctr">
              <a:spcAft>
                <a:spcPts val="600"/>
              </a:spcAft>
            </a:pPr>
            <a:r>
              <a:rPr sz="4000" b="1">
                <a:solidFill>
                  <a:srgbClr val="003A70"/>
                </a:solidFill>
                <a:latin typeface="Calibri"/>
              </a:rPr>
              <a:t>100%</a:t>
            </a:r>
          </a:p>
        </p:txBody>
      </p:sp>
      <p:sp>
        <p:nvSpPr>
          <p:cNvPr id="17" name="TextBox 16"/>
          <p:cNvSpPr txBox="1"/>
          <p:nvPr/>
        </p:nvSpPr>
        <p:spPr>
          <a:xfrm>
            <a:off x="6263640" y="2697480"/>
            <a:ext cx="2331720" cy="731520"/>
          </a:xfrm>
          <a:prstGeom prst="rect">
            <a:avLst/>
          </a:prstGeom>
          <a:noFill/>
        </p:spPr>
        <p:txBody>
          <a:bodyPr wrap="square" anchor="t" lIns="45720" rIns="45720" tIns="27432" bIns="27432">
            <a:spAutoFit/>
          </a:bodyPr>
          <a:lstStyle/>
          <a:p>
            <a:pPr algn="ctr">
              <a:spcAft>
                <a:spcPts val="600"/>
              </a:spcAft>
            </a:pPr>
            <a:r>
              <a:rPr sz="1300" b="0">
                <a:solidFill>
                  <a:srgbClr val="003A70"/>
                </a:solidFill>
                <a:latin typeface="Calibri"/>
              </a:rPr>
              <a:t>of drafts checked before human review</a:t>
            </a:r>
          </a:p>
        </p:txBody>
      </p:sp>
      <p:sp>
        <p:nvSpPr>
          <p:cNvPr id="18" name="TextBox 17"/>
          <p:cNvSpPr txBox="1"/>
          <p:nvPr/>
        </p:nvSpPr>
        <p:spPr>
          <a:xfrm>
            <a:off x="6126480" y="3566160"/>
            <a:ext cx="2606040" cy="274320"/>
          </a:xfrm>
          <a:prstGeom prst="rect">
            <a:avLst/>
          </a:prstGeom>
          <a:noFill/>
        </p:spPr>
        <p:txBody>
          <a:bodyPr wrap="square" anchor="t" lIns="45720" rIns="45720" tIns="27432" bIns="27432">
            <a:spAutoFit/>
          </a:bodyPr>
          <a:lstStyle/>
          <a:p>
            <a:pPr algn="ctr">
              <a:spcAft>
                <a:spcPts val="600"/>
              </a:spcAft>
            </a:pPr>
            <a:r>
              <a:rPr sz="1000" b="0">
                <a:solidFill>
                  <a:srgbClr val="B8510D"/>
                </a:solidFill>
                <a:latin typeface="Calibri"/>
              </a:rPr>
              <a:t>Measured: built into the workflow</a:t>
            </a:r>
          </a:p>
        </p:txBody>
      </p:sp>
      <p:sp>
        <p:nvSpPr>
          <p:cNvPr id="19" name="Rounded Rectangle 18"/>
          <p:cNvSpPr/>
          <p:nvPr/>
        </p:nvSpPr>
        <p:spPr>
          <a:xfrm>
            <a:off x="8915400" y="1783080"/>
            <a:ext cx="2651760" cy="173736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5400" y="1920240"/>
            <a:ext cx="2651760" cy="822960"/>
          </a:xfrm>
          <a:prstGeom prst="rect">
            <a:avLst/>
          </a:prstGeom>
          <a:noFill/>
        </p:spPr>
        <p:txBody>
          <a:bodyPr wrap="square" anchor="t" lIns="45720" rIns="45720" tIns="27432" bIns="27432">
            <a:spAutoFit/>
          </a:bodyPr>
          <a:lstStyle/>
          <a:p>
            <a:pPr algn="ctr">
              <a:spcAft>
                <a:spcPts val="600"/>
              </a:spcAft>
            </a:pPr>
            <a:r>
              <a:rPr sz="4000" b="1">
                <a:solidFill>
                  <a:srgbClr val="003A70"/>
                </a:solidFill>
                <a:latin typeface="Calibri"/>
              </a:rPr>
              <a:t>100%</a:t>
            </a:r>
          </a:p>
        </p:txBody>
      </p:sp>
      <p:sp>
        <p:nvSpPr>
          <p:cNvPr id="21" name="TextBox 20"/>
          <p:cNvSpPr txBox="1"/>
          <p:nvPr/>
        </p:nvSpPr>
        <p:spPr>
          <a:xfrm>
            <a:off x="9052560" y="2697480"/>
            <a:ext cx="2377440" cy="731520"/>
          </a:xfrm>
          <a:prstGeom prst="rect">
            <a:avLst/>
          </a:prstGeom>
          <a:noFill/>
        </p:spPr>
        <p:txBody>
          <a:bodyPr wrap="square" anchor="t" lIns="45720" rIns="45720" tIns="27432" bIns="27432">
            <a:spAutoFit/>
          </a:bodyPr>
          <a:lstStyle/>
          <a:p>
            <a:pPr algn="ctr">
              <a:spcAft>
                <a:spcPts val="600"/>
              </a:spcAft>
            </a:pPr>
            <a:r>
              <a:rPr sz="1300" b="0">
                <a:solidFill>
                  <a:srgbClr val="003A70"/>
                </a:solidFill>
                <a:latin typeface="Calibri"/>
              </a:rPr>
              <a:t>of actions tied to a named user</a:t>
            </a:r>
          </a:p>
        </p:txBody>
      </p:sp>
      <p:sp>
        <p:nvSpPr>
          <p:cNvPr id="22" name="TextBox 21"/>
          <p:cNvSpPr txBox="1"/>
          <p:nvPr/>
        </p:nvSpPr>
        <p:spPr>
          <a:xfrm>
            <a:off x="8915400" y="3566160"/>
            <a:ext cx="2651760" cy="274320"/>
          </a:xfrm>
          <a:prstGeom prst="rect">
            <a:avLst/>
          </a:prstGeom>
          <a:noFill/>
        </p:spPr>
        <p:txBody>
          <a:bodyPr wrap="square" anchor="t" lIns="45720" rIns="45720" tIns="27432" bIns="27432">
            <a:spAutoFit/>
          </a:bodyPr>
          <a:lstStyle/>
          <a:p>
            <a:pPr algn="ctr">
              <a:spcAft>
                <a:spcPts val="600"/>
              </a:spcAft>
            </a:pPr>
            <a:r>
              <a:rPr sz="1000" b="0">
                <a:solidFill>
                  <a:srgbClr val="B8510D"/>
                </a:solidFill>
                <a:latin typeface="Calibri"/>
              </a:rPr>
              <a:t>Measured: built into the workflow</a:t>
            </a:r>
          </a:p>
        </p:txBody>
      </p:sp>
      <p:sp>
        <p:nvSpPr>
          <p:cNvPr id="23" name="TextBox 22"/>
          <p:cNvSpPr txBox="1"/>
          <p:nvPr/>
        </p:nvSpPr>
        <p:spPr>
          <a:xfrm>
            <a:off x="548640" y="4206240"/>
            <a:ext cx="11064240" cy="2103120"/>
          </a:xfrm>
          <a:prstGeom prst="rect">
            <a:avLst/>
          </a:prstGeom>
          <a:noFill/>
        </p:spPr>
        <p:txBody>
          <a:bodyPr wrap="square" anchor="t" lIns="45720" rIns="45720" tIns="27432" bIns="27432">
            <a:spAutoFit/>
          </a:bodyPr>
          <a:lstStyle/>
          <a:p>
            <a:pPr algn="l">
              <a:spcAft>
                <a:spcPts val="800"/>
              </a:spcAft>
            </a:pPr>
            <a:r>
              <a:rPr sz="1600" b="0">
                <a:solidFill>
                  <a:srgbClr val="003A70"/>
                </a:solidFill>
                <a:latin typeface="Calibri"/>
              </a:rPr>
              <a:t>•  Time: the first draft is automatic; the advisor edits instead of writing from scratch</a:t>
            </a:r>
          </a:p>
          <a:p>
            <a:pPr algn="l">
              <a:spcAft>
                <a:spcPts val="800"/>
              </a:spcAft>
            </a:pPr>
            <a:r>
              <a:rPr sz="1600" b="0">
                <a:solidFill>
                  <a:srgbClr val="003A70"/>
                </a:solidFill>
                <a:latin typeface="Calibri"/>
              </a:rPr>
              <a:t>•  Risk: blocking rules stop prohibited language before a person reviews it, so principals spend time on judgment, not catching basics</a:t>
            </a:r>
          </a:p>
          <a:p>
            <a:pPr algn="l">
              <a:spcAft>
                <a:spcPts val="800"/>
              </a:spcAft>
            </a:pPr>
            <a:r>
              <a:rPr sz="1600" b="0">
                <a:solidFill>
                  <a:srgbClr val="003A70"/>
                </a:solidFill>
                <a:latin typeface="Calibri"/>
              </a:rPr>
              <a:t>•  Audit readiness: every review is already documented, with a verifiable chain and an export</a:t>
            </a:r>
          </a:p>
          <a:p>
            <a:pPr algn="l">
              <a:spcAft>
                <a:spcPts val="800"/>
              </a:spcAft>
            </a:pPr>
            <a:r>
              <a:rPr sz="1600" b="0">
                <a:solidFill>
                  <a:srgbClr val="003A70"/>
                </a:solidFill>
                <a:latin typeface="Calibri"/>
              </a:rPr>
              <a:t>•  Scale: roles, queues and shared storage already support many advisors; new document types are templates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692640" cy="1097280"/>
          </a:xfrm>
          <a:prstGeom prst="rect">
            <a:avLst/>
          </a:prstGeom>
          <a:noFill/>
        </p:spPr>
        <p:txBody>
          <a:bodyPr wrap="square" anchor="ctr" lIns="45720" rIns="45720" tIns="27432" bIns="27432">
            <a:spAutoFit/>
          </a:bodyPr>
          <a:lstStyle/>
          <a:p>
            <a:pPr algn="l">
              <a:spcAft>
                <a:spcPts val="600"/>
              </a:spcAft>
            </a:pPr>
            <a:r>
              <a:rPr sz="2800" b="1">
                <a:solidFill>
                  <a:srgbClr val="003A70"/>
                </a:solidFill>
                <a:latin typeface="Calibri"/>
              </a:rPr>
              <a:t>What comes next (not built yet)</a:t>
            </a:r>
          </a:p>
        </p:txBody>
      </p:sp>
      <p:sp>
        <p:nvSpPr>
          <p:cNvPr id="3" name="Rectangle 2"/>
          <p:cNvSpPr/>
          <p:nvPr/>
        </p:nvSpPr>
        <p:spPr>
          <a:xfrm>
            <a:off x="548640" y="1481328"/>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46920" y="411480"/>
            <a:ext cx="2194560" cy="365760"/>
          </a:xfrm>
          <a:prstGeom prst="roundRect">
            <a:avLst>
              <a:gd name="adj" fmla="val 50000"/>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Startup We'd Buy Tomorrow</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600"/>
              </a:spcAft>
            </a:pPr>
            <a:r>
              <a:rPr sz="1000" b="0">
                <a:solidFill>
                  <a:srgbClr val="5B6B7B"/>
                </a:solidFill>
                <a:latin typeface="Calibri"/>
              </a:rPr>
              <a:t>13</a:t>
            </a:r>
          </a:p>
        </p:txBody>
      </p:sp>
      <p:sp>
        <p:nvSpPr>
          <p:cNvPr id="7" name="TextBox 6"/>
          <p:cNvSpPr txBox="1"/>
          <p:nvPr/>
        </p:nvSpPr>
        <p:spPr>
          <a:xfrm>
            <a:off x="548640" y="1737360"/>
            <a:ext cx="10972800" cy="457200"/>
          </a:xfrm>
          <a:prstGeom prst="rect">
            <a:avLst/>
          </a:prstGeom>
          <a:noFill/>
        </p:spPr>
        <p:txBody>
          <a:bodyPr wrap="square" anchor="t" lIns="45720" rIns="45720" tIns="27432" bIns="27432">
            <a:spAutoFit/>
          </a:bodyPr>
          <a:lstStyle/>
          <a:p>
            <a:pPr algn="l">
              <a:spcAft>
                <a:spcPts val="600"/>
              </a:spcAft>
            </a:pPr>
            <a:r>
              <a:rPr sz="1500" b="1">
                <a:solidFill>
                  <a:srgbClr val="B8510D"/>
                </a:solidFill>
                <a:latin typeface="Calibri"/>
              </a:rPr>
              <a:t>Clearly labelled as future work, separate from the working solution shown above</a:t>
            </a:r>
          </a:p>
        </p:txBody>
      </p:sp>
      <p:sp>
        <p:nvSpPr>
          <p:cNvPr id="8" name="Rounded Rectangle 7"/>
          <p:cNvSpPr/>
          <p:nvPr/>
        </p:nvSpPr>
        <p:spPr>
          <a:xfrm>
            <a:off x="548640" y="2331720"/>
            <a:ext cx="3566160" cy="640080"/>
          </a:xfrm>
          <a:prstGeom prst="roundRect">
            <a:avLst>
              <a:gd name="adj" fmla="val 6000"/>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Trust</a:t>
            </a:r>
          </a:p>
        </p:txBody>
      </p:sp>
      <p:sp>
        <p:nvSpPr>
          <p:cNvPr id="9" name="Rounded Rectangle 8"/>
          <p:cNvSpPr/>
          <p:nvPr/>
        </p:nvSpPr>
        <p:spPr>
          <a:xfrm>
            <a:off x="548640" y="3017520"/>
            <a:ext cx="3566160" cy="3017520"/>
          </a:xfrm>
          <a:prstGeom prst="roundRect">
            <a:avLst>
              <a:gd name="adj" fmla="val 6000"/>
            </a:avLst>
          </a:prstGeom>
          <a:solidFill>
            <a:srgbClr val="F2F6FA"/>
          </a:solidFill>
          <a:ln w="15875">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108960"/>
            <a:ext cx="3346704" cy="2834640"/>
          </a:xfrm>
          <a:prstGeom prst="rect">
            <a:avLst/>
          </a:prstGeom>
          <a:noFill/>
        </p:spPr>
        <p:txBody>
          <a:bodyPr wrap="square" anchor="t" lIns="45720" rIns="45720" tIns="27432" bIns="27432">
            <a:spAutoFit/>
          </a:bodyPr>
          <a:lstStyle/>
          <a:p>
            <a:pPr algn="l">
              <a:spcAft>
                <a:spcPts val="1000"/>
              </a:spcAft>
            </a:pPr>
            <a:r>
              <a:rPr sz="1500" b="0">
                <a:solidFill>
                  <a:srgbClr val="003A70"/>
                </a:solidFill>
                <a:latin typeface="Calibri"/>
              </a:rPr>
              <a:t>•  Enterprise identity with MFA (for example Amazon Cognito)</a:t>
            </a:r>
          </a:p>
          <a:p>
            <a:pPr algn="l">
              <a:spcAft>
                <a:spcPts val="1000"/>
              </a:spcAft>
            </a:pPr>
            <a:r>
              <a:rPr sz="1500" b="0">
                <a:solidFill>
                  <a:srgbClr val="003A70"/>
                </a:solidFill>
                <a:latin typeface="Calibri"/>
              </a:rPr>
              <a:t>•  HTTPS through a load balancer, plus AWS WAF</a:t>
            </a:r>
          </a:p>
          <a:p>
            <a:pPr algn="l">
              <a:spcAft>
                <a:spcPts val="1000"/>
              </a:spcAft>
            </a:pPr>
            <a:r>
              <a:rPr sz="1500" b="0">
                <a:solidFill>
                  <a:srgbClr val="003A70"/>
                </a:solidFill>
                <a:latin typeface="Calibri"/>
              </a:rPr>
              <a:t>•  Immutable audit retention (S3 Object Lock)</a:t>
            </a:r>
          </a:p>
        </p:txBody>
      </p:sp>
      <p:sp>
        <p:nvSpPr>
          <p:cNvPr id="11" name="Rounded Rectangle 10"/>
          <p:cNvSpPr/>
          <p:nvPr/>
        </p:nvSpPr>
        <p:spPr>
          <a:xfrm>
            <a:off x="4343400" y="2331720"/>
            <a:ext cx="3566160" cy="640080"/>
          </a:xfrm>
          <a:prstGeom prst="roundRect">
            <a:avLst>
              <a:gd name="adj" fmla="val 6000"/>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Intelligence</a:t>
            </a:r>
          </a:p>
        </p:txBody>
      </p:sp>
      <p:sp>
        <p:nvSpPr>
          <p:cNvPr id="12" name="Rounded Rectangle 11"/>
          <p:cNvSpPr/>
          <p:nvPr/>
        </p:nvSpPr>
        <p:spPr>
          <a:xfrm>
            <a:off x="4343400" y="3017520"/>
            <a:ext cx="3566160" cy="3017520"/>
          </a:xfrm>
          <a:prstGeom prst="roundRect">
            <a:avLst>
              <a:gd name="adj" fmla="val 6000"/>
            </a:avLst>
          </a:prstGeom>
          <a:solidFill>
            <a:srgbClr val="F2F6FA"/>
          </a:solidFill>
          <a:ln w="15875">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3128" y="3108960"/>
            <a:ext cx="3346704" cy="2834640"/>
          </a:xfrm>
          <a:prstGeom prst="rect">
            <a:avLst/>
          </a:prstGeom>
          <a:noFill/>
        </p:spPr>
        <p:txBody>
          <a:bodyPr wrap="square" anchor="t" lIns="45720" rIns="45720" tIns="27432" bIns="27432">
            <a:spAutoFit/>
          </a:bodyPr>
          <a:lstStyle/>
          <a:p>
            <a:pPr algn="l">
              <a:spcAft>
                <a:spcPts val="1000"/>
              </a:spcAft>
            </a:pPr>
            <a:r>
              <a:rPr sz="1500" b="0">
                <a:solidFill>
                  <a:srgbClr val="003A70"/>
                </a:solidFill>
                <a:latin typeface="Calibri"/>
              </a:rPr>
              <a:t>•  Amazon Bedrock Guardrails alongside our rules</a:t>
            </a:r>
          </a:p>
          <a:p>
            <a:pPr algn="l">
              <a:spcAft>
                <a:spcPts val="1000"/>
              </a:spcAft>
            </a:pPr>
            <a:r>
              <a:rPr sz="1500" b="0">
                <a:solidFill>
                  <a:srgbClr val="003A70"/>
                </a:solidFill>
                <a:latin typeface="Calibri"/>
              </a:rPr>
              <a:t>•  Draft citations back to client data and number checks</a:t>
            </a:r>
          </a:p>
          <a:p>
            <a:pPr algn="l">
              <a:spcAft>
                <a:spcPts val="1000"/>
              </a:spcAft>
            </a:pPr>
            <a:r>
              <a:rPr sz="1500" b="0">
                <a:solidFill>
                  <a:srgbClr val="003A70"/>
                </a:solidFill>
                <a:latin typeface="Calibri"/>
              </a:rPr>
              <a:t>•  A test set to measure rule accuracy</a:t>
            </a:r>
          </a:p>
        </p:txBody>
      </p:sp>
      <p:sp>
        <p:nvSpPr>
          <p:cNvPr id="14" name="Rounded Rectangle 13"/>
          <p:cNvSpPr/>
          <p:nvPr/>
        </p:nvSpPr>
        <p:spPr>
          <a:xfrm>
            <a:off x="8138160" y="2331720"/>
            <a:ext cx="3566160" cy="640080"/>
          </a:xfrm>
          <a:prstGeom prst="roundRect">
            <a:avLst>
              <a:gd name="adj" fmla="val 6000"/>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Integration</a:t>
            </a:r>
          </a:p>
        </p:txBody>
      </p:sp>
      <p:sp>
        <p:nvSpPr>
          <p:cNvPr id="15" name="Rounded Rectangle 14"/>
          <p:cNvSpPr/>
          <p:nvPr/>
        </p:nvSpPr>
        <p:spPr>
          <a:xfrm>
            <a:off x="8138160" y="3017520"/>
            <a:ext cx="3566160" cy="3017520"/>
          </a:xfrm>
          <a:prstGeom prst="roundRect">
            <a:avLst>
              <a:gd name="adj" fmla="val 6000"/>
            </a:avLst>
          </a:prstGeom>
          <a:solidFill>
            <a:srgbClr val="F2F6FA"/>
          </a:solidFill>
          <a:ln w="15875">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3108960"/>
            <a:ext cx="3346704" cy="2834640"/>
          </a:xfrm>
          <a:prstGeom prst="rect">
            <a:avLst/>
          </a:prstGeom>
          <a:noFill/>
        </p:spPr>
        <p:txBody>
          <a:bodyPr wrap="square" anchor="t" lIns="45720" rIns="45720" tIns="27432" bIns="27432">
            <a:spAutoFit/>
          </a:bodyPr>
          <a:lstStyle/>
          <a:p>
            <a:pPr algn="l">
              <a:spcAft>
                <a:spcPts val="1000"/>
              </a:spcAft>
            </a:pPr>
            <a:r>
              <a:rPr sz="1500" b="0">
                <a:solidFill>
                  <a:srgbClr val="003A70"/>
                </a:solidFill>
                <a:latin typeface="Calibri"/>
              </a:rPr>
              <a:t>•  CRM and portfolio data instead of simulated profiles</a:t>
            </a:r>
          </a:p>
          <a:p>
            <a:pPr algn="l">
              <a:spcAft>
                <a:spcPts val="1000"/>
              </a:spcAft>
            </a:pPr>
            <a:r>
              <a:rPr sz="1500" b="0">
                <a:solidFill>
                  <a:srgbClr val="003A70"/>
                </a:solidFill>
                <a:latin typeface="Calibri"/>
              </a:rPr>
              <a:t>•  More document types: quarterly letters, IPS updates</a:t>
            </a:r>
          </a:p>
          <a:p>
            <a:pPr algn="l">
              <a:spcAft>
                <a:spcPts val="1000"/>
              </a:spcAft>
            </a:pPr>
            <a:r>
              <a:rPr sz="1500" b="0">
                <a:solidFill>
                  <a:srgbClr val="003A70"/>
                </a:solidFill>
                <a:latin typeface="Calibri"/>
              </a:rPr>
              <a:t>•  Pilot metrics: time saved, edit rate, flag rate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3A70"/>
        </a:solidFill>
        <a:effectLst/>
      </p:bgPr>
    </p:bg>
    <p:spTree>
      <p:nvGrpSpPr>
        <p:cNvPr id="1" name=""/>
        <p:cNvGrpSpPr/>
        <p:nvPr/>
      </p:nvGrpSpPr>
      <p:grpSpPr/>
      <p:sp>
        <p:nvSpPr>
          <p:cNvPr id="2" name="TextBox 1"/>
          <p:cNvSpPr txBox="1"/>
          <p:nvPr/>
        </p:nvSpPr>
        <p:spPr>
          <a:xfrm>
            <a:off x="731520" y="822960"/>
            <a:ext cx="10698480" cy="731520"/>
          </a:xfrm>
          <a:prstGeom prst="rect">
            <a:avLst/>
          </a:prstGeom>
          <a:noFill/>
        </p:spPr>
        <p:txBody>
          <a:bodyPr wrap="square" anchor="t" lIns="45720" rIns="45720" tIns="27432" bIns="27432">
            <a:spAutoFit/>
          </a:bodyPr>
          <a:lstStyle/>
          <a:p>
            <a:pPr algn="l">
              <a:spcAft>
                <a:spcPts val="600"/>
              </a:spcAft>
            </a:pPr>
            <a:r>
              <a:rPr sz="3600" b="1">
                <a:solidFill>
                  <a:srgbClr val="FFFFFF"/>
                </a:solidFill>
                <a:latin typeface="Calibri"/>
              </a:rPr>
              <a:t>Why LPL should want this startup</a:t>
            </a:r>
          </a:p>
        </p:txBody>
      </p:sp>
      <p:sp>
        <p:nvSpPr>
          <p:cNvPr id="3" name="Rounded Rectangle 2"/>
          <p:cNvSpPr/>
          <p:nvPr/>
        </p:nvSpPr>
        <p:spPr>
          <a:xfrm>
            <a:off x="731520" y="1828800"/>
            <a:ext cx="731520" cy="731520"/>
          </a:xfrm>
          <a:prstGeom prst="roundRect">
            <a:avLst>
              <a:gd name="adj" fmla="val 6000"/>
            </a:avLst>
          </a:prstGeom>
          <a:solidFill>
            <a:srgbClr val="6CC2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600" b="1">
                <a:solidFill>
                  <a:srgbClr val="003A70"/>
                </a:solidFill>
                <a:latin typeface="Calibri"/>
              </a:rPr>
              <a:t>1</a:t>
            </a:r>
          </a:p>
        </p:txBody>
      </p:sp>
      <p:sp>
        <p:nvSpPr>
          <p:cNvPr id="4" name="TextBox 3"/>
          <p:cNvSpPr txBox="1"/>
          <p:nvPr/>
        </p:nvSpPr>
        <p:spPr>
          <a:xfrm>
            <a:off x="1645920" y="1783080"/>
            <a:ext cx="9875520" cy="457200"/>
          </a:xfrm>
          <a:prstGeom prst="rect">
            <a:avLst/>
          </a:prstGeom>
          <a:noFill/>
        </p:spPr>
        <p:txBody>
          <a:bodyPr wrap="square" anchor="t" lIns="45720" rIns="45720" tIns="27432" bIns="27432">
            <a:spAutoFit/>
          </a:bodyPr>
          <a:lstStyle/>
          <a:p>
            <a:pPr algn="l">
              <a:spcAft>
                <a:spcPts val="600"/>
              </a:spcAft>
            </a:pPr>
            <a:r>
              <a:rPr sz="2200" b="1">
                <a:solidFill>
                  <a:srgbClr val="6CC24A"/>
                </a:solidFill>
                <a:latin typeface="Calibri"/>
              </a:rPr>
              <a:t>A real wedge</a:t>
            </a:r>
          </a:p>
        </p:txBody>
      </p:sp>
      <p:sp>
        <p:nvSpPr>
          <p:cNvPr id="5" name="TextBox 4"/>
          <p:cNvSpPr txBox="1"/>
          <p:nvPr/>
        </p:nvSpPr>
        <p:spPr>
          <a:xfrm>
            <a:off x="1645920" y="2194560"/>
            <a:ext cx="9875520" cy="640080"/>
          </a:xfrm>
          <a:prstGeom prst="rect">
            <a:avLst/>
          </a:prstGeom>
          <a:noFill/>
        </p:spPr>
        <p:txBody>
          <a:bodyPr wrap="square" anchor="t" lIns="45720" rIns="45720" tIns="27432" bIns="27432">
            <a:spAutoFit/>
          </a:bodyPr>
          <a:lstStyle/>
          <a:p>
            <a:pPr algn="l">
              <a:spcAft>
                <a:spcPts val="600"/>
              </a:spcAft>
            </a:pPr>
            <a:r>
              <a:rPr sz="1700" b="0">
                <a:solidFill>
                  <a:srgbClr val="FFFFFF"/>
                </a:solidFill>
                <a:latin typeface="Calibri"/>
              </a:rPr>
              <a:t>AI productivity for advisors, with the supervision and records a broker-dealer must have.</a:t>
            </a:r>
          </a:p>
        </p:txBody>
      </p:sp>
      <p:sp>
        <p:nvSpPr>
          <p:cNvPr id="6" name="Rounded Rectangle 5"/>
          <p:cNvSpPr/>
          <p:nvPr/>
        </p:nvSpPr>
        <p:spPr>
          <a:xfrm>
            <a:off x="731520" y="3017520"/>
            <a:ext cx="731520" cy="731520"/>
          </a:xfrm>
          <a:prstGeom prst="roundRect">
            <a:avLst>
              <a:gd name="adj" fmla="val 6000"/>
            </a:avLst>
          </a:prstGeom>
          <a:solidFill>
            <a:srgbClr val="6CC2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600" b="1">
                <a:solidFill>
                  <a:srgbClr val="003A70"/>
                </a:solidFill>
                <a:latin typeface="Calibri"/>
              </a:rPr>
              <a:t>2</a:t>
            </a:r>
          </a:p>
        </p:txBody>
      </p:sp>
      <p:sp>
        <p:nvSpPr>
          <p:cNvPr id="7" name="TextBox 6"/>
          <p:cNvSpPr txBox="1"/>
          <p:nvPr/>
        </p:nvSpPr>
        <p:spPr>
          <a:xfrm>
            <a:off x="1645920" y="2971800"/>
            <a:ext cx="9875520" cy="457200"/>
          </a:xfrm>
          <a:prstGeom prst="rect">
            <a:avLst/>
          </a:prstGeom>
          <a:noFill/>
        </p:spPr>
        <p:txBody>
          <a:bodyPr wrap="square" anchor="t" lIns="45720" rIns="45720" tIns="27432" bIns="27432">
            <a:spAutoFit/>
          </a:bodyPr>
          <a:lstStyle/>
          <a:p>
            <a:pPr algn="l">
              <a:spcAft>
                <a:spcPts val="600"/>
              </a:spcAft>
            </a:pPr>
            <a:r>
              <a:rPr sz="2200" b="1">
                <a:solidFill>
                  <a:srgbClr val="6CC24A"/>
                </a:solidFill>
                <a:latin typeface="Calibri"/>
              </a:rPr>
              <a:t>It works today</a:t>
            </a:r>
          </a:p>
        </p:txBody>
      </p:sp>
      <p:sp>
        <p:nvSpPr>
          <p:cNvPr id="8" name="TextBox 7"/>
          <p:cNvSpPr txBox="1"/>
          <p:nvPr/>
        </p:nvSpPr>
        <p:spPr>
          <a:xfrm>
            <a:off x="1645920" y="3383279"/>
            <a:ext cx="9875520" cy="640080"/>
          </a:xfrm>
          <a:prstGeom prst="rect">
            <a:avLst/>
          </a:prstGeom>
          <a:noFill/>
        </p:spPr>
        <p:txBody>
          <a:bodyPr wrap="square" anchor="t" lIns="45720" rIns="45720" tIns="27432" bIns="27432">
            <a:spAutoFit/>
          </a:bodyPr>
          <a:lstStyle/>
          <a:p>
            <a:pPr algn="l">
              <a:spcAft>
                <a:spcPts val="600"/>
              </a:spcAft>
            </a:pPr>
            <a:r>
              <a:rPr sz="1700" b="0">
                <a:solidFill>
                  <a:srgbClr val="FFFFFF"/>
                </a:solidFill>
                <a:latin typeface="Calibri"/>
              </a:rPr>
              <a:t>Live on AWS: drafting, 13 compliance rules, two-level approval and verified audit records.</a:t>
            </a:r>
          </a:p>
        </p:txBody>
      </p:sp>
      <p:sp>
        <p:nvSpPr>
          <p:cNvPr id="9" name="Rounded Rectangle 8"/>
          <p:cNvSpPr/>
          <p:nvPr/>
        </p:nvSpPr>
        <p:spPr>
          <a:xfrm>
            <a:off x="731520" y="4206240"/>
            <a:ext cx="731520" cy="731520"/>
          </a:xfrm>
          <a:prstGeom prst="roundRect">
            <a:avLst>
              <a:gd name="adj" fmla="val 6000"/>
            </a:avLst>
          </a:prstGeom>
          <a:solidFill>
            <a:srgbClr val="6CC2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600" b="1">
                <a:solidFill>
                  <a:srgbClr val="003A70"/>
                </a:solidFill>
                <a:latin typeface="Calibri"/>
              </a:rPr>
              <a:t>3</a:t>
            </a:r>
          </a:p>
        </p:txBody>
      </p:sp>
      <p:sp>
        <p:nvSpPr>
          <p:cNvPr id="10" name="TextBox 9"/>
          <p:cNvSpPr txBox="1"/>
          <p:nvPr/>
        </p:nvSpPr>
        <p:spPr>
          <a:xfrm>
            <a:off x="1645920" y="4160520"/>
            <a:ext cx="9875520" cy="457200"/>
          </a:xfrm>
          <a:prstGeom prst="rect">
            <a:avLst/>
          </a:prstGeom>
          <a:noFill/>
        </p:spPr>
        <p:txBody>
          <a:bodyPr wrap="square" anchor="t" lIns="45720" rIns="45720" tIns="27432" bIns="27432">
            <a:spAutoFit/>
          </a:bodyPr>
          <a:lstStyle/>
          <a:p>
            <a:pPr algn="l">
              <a:spcAft>
                <a:spcPts val="600"/>
              </a:spcAft>
            </a:pPr>
            <a:r>
              <a:rPr sz="2200" b="1">
                <a:solidFill>
                  <a:srgbClr val="6CC24A"/>
                </a:solidFill>
                <a:latin typeface="Calibri"/>
              </a:rPr>
              <a:t>Built to scale</a:t>
            </a:r>
          </a:p>
        </p:txBody>
      </p:sp>
      <p:sp>
        <p:nvSpPr>
          <p:cNvPr id="11" name="TextBox 10"/>
          <p:cNvSpPr txBox="1"/>
          <p:nvPr/>
        </p:nvSpPr>
        <p:spPr>
          <a:xfrm>
            <a:off x="1645920" y="4572000"/>
            <a:ext cx="9875520" cy="640080"/>
          </a:xfrm>
          <a:prstGeom prst="rect">
            <a:avLst/>
          </a:prstGeom>
          <a:noFill/>
        </p:spPr>
        <p:txBody>
          <a:bodyPr wrap="square" anchor="t" lIns="45720" rIns="45720" tIns="27432" bIns="27432">
            <a:spAutoFit/>
          </a:bodyPr>
          <a:lstStyle/>
          <a:p>
            <a:pPr algn="l">
              <a:spcAft>
                <a:spcPts val="600"/>
              </a:spcAft>
            </a:pPr>
            <a:r>
              <a:rPr sz="1700" b="0">
                <a:solidFill>
                  <a:srgbClr val="FFFFFF"/>
                </a:solidFill>
                <a:latin typeface="Calibri"/>
              </a:rPr>
              <a:t>Concurrency-safe, tested, deployed by pipeline, and documented end to end.</a:t>
            </a:r>
          </a:p>
        </p:txBody>
      </p:sp>
      <p:sp>
        <p:nvSpPr>
          <p:cNvPr id="12" name="Rectangle 11"/>
          <p:cNvSpPr/>
          <p:nvPr/>
        </p:nvSpPr>
        <p:spPr>
          <a:xfrm>
            <a:off x="0" y="5440680"/>
            <a:ext cx="12191695" cy="91440"/>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623560"/>
            <a:ext cx="10698480" cy="548640"/>
          </a:xfrm>
          <a:prstGeom prst="rect">
            <a:avLst/>
          </a:prstGeom>
          <a:noFill/>
        </p:spPr>
        <p:txBody>
          <a:bodyPr wrap="square" anchor="t" lIns="45720" rIns="45720" tIns="27432" bIns="27432">
            <a:spAutoFit/>
          </a:bodyPr>
          <a:lstStyle/>
          <a:p>
            <a:pPr algn="l">
              <a:spcAft>
                <a:spcPts val="600"/>
              </a:spcAft>
            </a:pPr>
            <a:r>
              <a:rPr sz="2600" b="1">
                <a:solidFill>
                  <a:srgbClr val="FFFFFF"/>
                </a:solidFill>
                <a:latin typeface="Calibri"/>
              </a:rPr>
              <a:t>AI drafts. Advisors decide. Compliance can prove it.</a:t>
            </a:r>
          </a:p>
        </p:txBody>
      </p:sp>
      <p:sp>
        <p:nvSpPr>
          <p:cNvPr id="14" name="Rounded Rectangle 13"/>
          <p:cNvSpPr/>
          <p:nvPr/>
        </p:nvSpPr>
        <p:spPr>
          <a:xfrm>
            <a:off x="731520" y="6263640"/>
            <a:ext cx="2743200" cy="365760"/>
          </a:xfrm>
          <a:prstGeom prst="roundRect">
            <a:avLst>
              <a:gd name="adj" fmla="val 50000"/>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Startup We'd Buy Tomorrow</a:t>
            </a:r>
          </a:p>
        </p:txBody>
      </p:sp>
      <p:sp>
        <p:nvSpPr>
          <p:cNvPr id="15" name="Rounded Rectangle 14"/>
          <p:cNvSpPr/>
          <p:nvPr/>
        </p:nvSpPr>
        <p:spPr>
          <a:xfrm>
            <a:off x="3657600" y="6263640"/>
            <a:ext cx="2743200" cy="365760"/>
          </a:xfrm>
          <a:prstGeom prst="roundRect">
            <a:avLst>
              <a:gd name="adj" fmla="val 50000"/>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Best Technical Execution</a:t>
            </a:r>
          </a:p>
        </p:txBody>
      </p:sp>
      <p:sp>
        <p:nvSpPr>
          <p:cNvPr id="16" name="Rounded Rectangle 15"/>
          <p:cNvSpPr/>
          <p:nvPr/>
        </p:nvSpPr>
        <p:spPr>
          <a:xfrm>
            <a:off x="6583680" y="6263640"/>
            <a:ext cx="2011680" cy="365760"/>
          </a:xfrm>
          <a:prstGeom prst="roundRect">
            <a:avLst>
              <a:gd name="adj" fmla="val 50000"/>
            </a:avLst>
          </a:prstGeom>
          <a:solidFill>
            <a:srgbClr val="2E8B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latin typeface="Calibri"/>
              </a:rPr>
              <a:t>Best Use of AWS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