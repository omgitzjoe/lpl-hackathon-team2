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0:05. We built a compliant AI assistant for advisors. We are competing for Startup We'd Buy Tomorrow and Best Technical Execution, and we are judged on Best Use of AWS. Move straight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0:25. Say it in three beats: who (advisors, assistants, principals), what hurts (manual drafting and after-the-fact review, and generic AI makes it riskier), why it matters (the regulatory expectations). Optionally add one sourced statistic about advisor administrative time, with a citation.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 Walk the chevrons left to right in one breath, then point at the four proof points. Everything on this slide is built and about to be shown in the demo. End with: AI drafts, advisors decide, compliance can prove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3:00. Follow the timestamps. Prefer a pre-recorded video with the live site as a backup. The demo password is lpl-demo; do not read it aloud. Key moments for judges: the blocked 'guaranteed returns' edit, the two approvals by different people, and the integrity-verified banner in the audit tab.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 One pass: Bedrock is the model, DynamoDB is shared state and the integrity-critical audit log, EC2 hosts it, the IAM role keeps keys off the machine. Then the engineering proof: tests, race-tested approvals, rollback, and a deploy pipeline. Be honest if asked: single instance and plain HTTP today; HTTPS via a load balancer is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 Startup case: the buyer is compliance and operations; the wedge is safe, provable AI drafting. Be transparent that the 5 hours per week is an illustrative model; the two 100% figures are real product properties. Close on the one-line promise, name the two categories, thank the judges.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A70"/>
        </a:solidFill>
        <a:effectLst/>
      </p:bgPr>
    </p:bg>
    <p:spTree>
      <p:nvGrpSpPr>
        <p:cNvPr id="1" name=""/>
        <p:cNvGrpSpPr/>
        <p:nvPr/>
      </p:nvGrpSpPr>
      <p:grpSpPr/>
      <p:sp>
        <p:nvSpPr>
          <p:cNvPr id="2" name="Rectangle 1"/>
          <p:cNvSpPr/>
          <p:nvPr/>
        </p:nvSpPr>
        <p:spPr>
          <a:xfrm>
            <a:off x="0" y="4572000"/>
            <a:ext cx="12191695" cy="10972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515600" cy="1097280"/>
          </a:xfrm>
          <a:prstGeom prst="rect">
            <a:avLst/>
          </a:prstGeom>
          <a:noFill/>
        </p:spPr>
        <p:txBody>
          <a:bodyPr wrap="square" anchor="t" lIns="45720" rIns="45720" tIns="27432" bIns="27432">
            <a:spAutoFit/>
          </a:bodyPr>
          <a:lstStyle/>
          <a:p>
            <a:pPr algn="l">
              <a:spcAft>
                <a:spcPts val="600"/>
              </a:spcAft>
            </a:pPr>
            <a:r>
              <a:rPr sz="5400" b="1">
                <a:solidFill>
                  <a:srgbClr val="FFFFFF"/>
                </a:solidFill>
                <a:latin typeface="Calibri"/>
              </a:rPr>
              <a:t>LPL Delegation Assistant</a:t>
            </a:r>
          </a:p>
        </p:txBody>
      </p:sp>
      <p:sp>
        <p:nvSpPr>
          <p:cNvPr id="4" name="TextBox 3"/>
          <p:cNvSpPr txBox="1"/>
          <p:nvPr/>
        </p:nvSpPr>
        <p:spPr>
          <a:xfrm>
            <a:off x="731520" y="2560320"/>
            <a:ext cx="10515600" cy="1097280"/>
          </a:xfrm>
          <a:prstGeom prst="rect">
            <a:avLst/>
          </a:prstGeom>
          <a:noFill/>
        </p:spPr>
        <p:txBody>
          <a:bodyPr wrap="square" anchor="t" lIns="45720" rIns="45720" tIns="27432" bIns="27432">
            <a:spAutoFit/>
          </a:bodyPr>
          <a:lstStyle/>
          <a:p>
            <a:pPr algn="l">
              <a:spcAft>
                <a:spcPts val="600"/>
              </a:spcAft>
            </a:pPr>
            <a:r>
              <a:rPr sz="2600" b="0">
                <a:solidFill>
                  <a:srgbClr val="6CC24A"/>
                </a:solidFill>
                <a:latin typeface="Calibri"/>
              </a:rPr>
              <a:t>Delegate the paperwork. Keep the control. Prove the compliance.</a:t>
            </a:r>
          </a:p>
        </p:txBody>
      </p:sp>
      <p:sp>
        <p:nvSpPr>
          <p:cNvPr id="5" name="TextBox 4"/>
          <p:cNvSpPr txBox="1"/>
          <p:nvPr/>
        </p:nvSpPr>
        <p:spPr>
          <a:xfrm>
            <a:off x="731520" y="3840480"/>
            <a:ext cx="10515600" cy="457200"/>
          </a:xfrm>
          <a:prstGeom prst="rect">
            <a:avLst/>
          </a:prstGeom>
          <a:noFill/>
        </p:spPr>
        <p:txBody>
          <a:bodyPr wrap="square" anchor="t" lIns="45720" rIns="45720" tIns="27432" bIns="27432">
            <a:spAutoFit/>
          </a:bodyPr>
          <a:lstStyle/>
          <a:p>
            <a:pPr algn="l">
              <a:spcAft>
                <a:spcPts val="600"/>
              </a:spcAft>
            </a:pPr>
            <a:r>
              <a:rPr sz="1800" b="0">
                <a:solidFill>
                  <a:srgbClr val="FFFFFF"/>
                </a:solidFill>
                <a:latin typeface="Calibri"/>
              </a:rPr>
              <a:t>Team 2  ·  2026 LPL Financial University Hackathon</a:t>
            </a:r>
          </a:p>
        </p:txBody>
      </p:sp>
      <p:sp>
        <p:nvSpPr>
          <p:cNvPr id="6" name="TextBox 5"/>
          <p:cNvSpPr txBox="1"/>
          <p:nvPr/>
        </p:nvSpPr>
        <p:spPr>
          <a:xfrm>
            <a:off x="731520" y="4983480"/>
            <a:ext cx="10515600" cy="365760"/>
          </a:xfrm>
          <a:prstGeom prst="rect">
            <a:avLst/>
          </a:prstGeom>
          <a:noFill/>
        </p:spPr>
        <p:txBody>
          <a:bodyPr wrap="square" anchor="t" lIns="45720" rIns="45720" tIns="27432" bIns="27432">
            <a:spAutoFit/>
          </a:bodyPr>
          <a:lstStyle/>
          <a:p>
            <a:pPr algn="l">
              <a:spcAft>
                <a:spcPts val="600"/>
              </a:spcAft>
            </a:pPr>
            <a:r>
              <a:rPr sz="1400" b="1">
                <a:solidFill>
                  <a:srgbClr val="6CC24A"/>
                </a:solidFill>
                <a:latin typeface="Calibri"/>
              </a:rPr>
              <a:t>Our two award categories</a:t>
            </a:r>
          </a:p>
        </p:txBody>
      </p:sp>
      <p:sp>
        <p:nvSpPr>
          <p:cNvPr id="7" name="Rounded Rectangle 6"/>
          <p:cNvSpPr/>
          <p:nvPr/>
        </p:nvSpPr>
        <p:spPr>
          <a:xfrm>
            <a:off x="731520" y="5394960"/>
            <a:ext cx="3108960" cy="45720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Startup We'd Buy Tomorrow</a:t>
            </a:r>
          </a:p>
        </p:txBody>
      </p:sp>
      <p:sp>
        <p:nvSpPr>
          <p:cNvPr id="8" name="Rounded Rectangle 7"/>
          <p:cNvSpPr/>
          <p:nvPr/>
        </p:nvSpPr>
        <p:spPr>
          <a:xfrm>
            <a:off x="4023360" y="5394960"/>
            <a:ext cx="3108960" cy="457200"/>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Best Technical Execution</a:t>
            </a:r>
          </a:p>
        </p:txBody>
      </p:sp>
      <p:sp>
        <p:nvSpPr>
          <p:cNvPr id="9" name="TextBox 8"/>
          <p:cNvSpPr txBox="1"/>
          <p:nvPr/>
        </p:nvSpPr>
        <p:spPr>
          <a:xfrm>
            <a:off x="7498079" y="5394960"/>
            <a:ext cx="4114800" cy="457200"/>
          </a:xfrm>
          <a:prstGeom prst="rect">
            <a:avLst/>
          </a:prstGeom>
          <a:noFill/>
        </p:spPr>
        <p:txBody>
          <a:bodyPr wrap="square" anchor="ctr" lIns="45720" rIns="45720" tIns="27432" bIns="27432">
            <a:spAutoFit/>
          </a:bodyPr>
          <a:lstStyle/>
          <a:p>
            <a:pPr algn="l">
              <a:spcAft>
                <a:spcPts val="600"/>
              </a:spcAft>
            </a:pPr>
            <a:r>
              <a:rPr sz="1400" b="0">
                <a:solidFill>
                  <a:srgbClr val="FFFFFF"/>
                </a:solidFill>
                <a:latin typeface="Calibri"/>
              </a:rPr>
              <a:t>Also judged: Best Use of AWS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1097280"/>
          </a:xfrm>
          <a:prstGeom prst="rect">
            <a:avLst/>
          </a:prstGeom>
          <a:noFill/>
        </p:spPr>
        <p:txBody>
          <a:bodyPr wrap="square" anchor="ctr" lIns="45720" rIns="45720" tIns="27432" bIns="27432">
            <a:spAutoFit/>
          </a:bodyPr>
          <a:lstStyle/>
          <a:p>
            <a:pPr algn="l">
              <a:spcAft>
                <a:spcPts val="600"/>
              </a:spcAft>
            </a:pPr>
            <a:r>
              <a:rPr sz="3000" b="1">
                <a:solidFill>
                  <a:srgbClr val="003A70"/>
                </a:solidFill>
                <a:latin typeface="Calibri"/>
              </a:rPr>
              <a:t>The problem: advisors lose hours to client paperwork, and every document is a compliance risk</a:t>
            </a:r>
          </a:p>
        </p:txBody>
      </p:sp>
      <p:sp>
        <p:nvSpPr>
          <p:cNvPr id="3" name="Rectangle 2"/>
          <p:cNvSpPr/>
          <p:nvPr/>
        </p:nvSpPr>
        <p:spPr>
          <a:xfrm>
            <a:off x="548640" y="1417320"/>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332720" y="6400800"/>
            <a:ext cx="1371600" cy="292608"/>
          </a:xfrm>
          <a:prstGeom prst="roundRect">
            <a:avLst>
              <a:gd name="adj" fmla="val 50000"/>
            </a:avLst>
          </a:prstGeom>
          <a:solidFill>
            <a:srgbClr val="5B6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0:25</a:t>
            </a:r>
          </a:p>
        </p:txBody>
      </p:sp>
      <p:sp>
        <p:nvSpPr>
          <p:cNvPr id="5" name="TextBox 4"/>
          <p:cNvSpPr txBox="1"/>
          <p:nvPr/>
        </p:nvSpPr>
        <p:spPr>
          <a:xfrm>
            <a:off x="548640" y="6419088"/>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Rounded Rectangle 5"/>
          <p:cNvSpPr/>
          <p:nvPr/>
        </p:nvSpPr>
        <p:spPr>
          <a:xfrm>
            <a:off x="548640" y="1828800"/>
            <a:ext cx="3566160" cy="64008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Who it affects</a:t>
            </a:r>
          </a:p>
        </p:txBody>
      </p:sp>
      <p:sp>
        <p:nvSpPr>
          <p:cNvPr id="7" name="Rounded Rectangle 6"/>
          <p:cNvSpPr/>
          <p:nvPr/>
        </p:nvSpPr>
        <p:spPr>
          <a:xfrm>
            <a:off x="548640" y="2514600"/>
            <a:ext cx="3566160" cy="35661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51760"/>
            <a:ext cx="3291840" cy="3383280"/>
          </a:xfrm>
          <a:prstGeom prst="rect">
            <a:avLst/>
          </a:prstGeom>
          <a:noFill/>
        </p:spPr>
        <p:txBody>
          <a:bodyPr wrap="square" anchor="t" lIns="45720" rIns="45720" tIns="27432" bIns="27432">
            <a:spAutoFit/>
          </a:bodyPr>
          <a:lstStyle/>
          <a:p>
            <a:pPr algn="l">
              <a:spcAft>
                <a:spcPts val="1200"/>
              </a:spcAft>
            </a:pPr>
            <a:r>
              <a:rPr sz="1800" b="0">
                <a:solidFill>
                  <a:srgbClr val="003A70"/>
                </a:solidFill>
                <a:latin typeface="Calibri"/>
              </a:rPr>
              <a:t>•  Advisors and their assistants</a:t>
            </a:r>
          </a:p>
          <a:p>
            <a:pPr algn="l">
              <a:spcAft>
                <a:spcPts val="1200"/>
              </a:spcAft>
            </a:pPr>
            <a:r>
              <a:rPr sz="1800" b="0">
                <a:solidFill>
                  <a:srgbClr val="003A70"/>
                </a:solidFill>
                <a:latin typeface="Calibri"/>
              </a:rPr>
              <a:t>•  Compliance principals who must review communications</a:t>
            </a:r>
          </a:p>
        </p:txBody>
      </p:sp>
      <p:sp>
        <p:nvSpPr>
          <p:cNvPr id="9" name="Rounded Rectangle 8"/>
          <p:cNvSpPr/>
          <p:nvPr/>
        </p:nvSpPr>
        <p:spPr>
          <a:xfrm>
            <a:off x="4343400" y="1828800"/>
            <a:ext cx="3566160" cy="64008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What happens today</a:t>
            </a:r>
          </a:p>
        </p:txBody>
      </p:sp>
      <p:sp>
        <p:nvSpPr>
          <p:cNvPr id="10" name="Rounded Rectangle 9"/>
          <p:cNvSpPr/>
          <p:nvPr/>
        </p:nvSpPr>
        <p:spPr>
          <a:xfrm>
            <a:off x="4343400" y="2514600"/>
            <a:ext cx="3566160" cy="35661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2651760"/>
            <a:ext cx="3291840" cy="3383280"/>
          </a:xfrm>
          <a:prstGeom prst="rect">
            <a:avLst/>
          </a:prstGeom>
          <a:noFill/>
        </p:spPr>
        <p:txBody>
          <a:bodyPr wrap="square" anchor="t" lIns="45720" rIns="45720" tIns="27432" bIns="27432">
            <a:spAutoFit/>
          </a:bodyPr>
          <a:lstStyle/>
          <a:p>
            <a:pPr algn="l">
              <a:spcAft>
                <a:spcPts val="1200"/>
              </a:spcAft>
            </a:pPr>
            <a:r>
              <a:rPr sz="1800" b="0">
                <a:solidFill>
                  <a:srgbClr val="003A70"/>
                </a:solidFill>
                <a:latin typeface="Calibri"/>
              </a:rPr>
              <a:t>•  Documents are written by hand</a:t>
            </a:r>
          </a:p>
          <a:p>
            <a:pPr algn="l">
              <a:spcAft>
                <a:spcPts val="1200"/>
              </a:spcAft>
            </a:pPr>
            <a:r>
              <a:rPr sz="1800" b="0">
                <a:solidFill>
                  <a:srgbClr val="003A70"/>
                </a:solidFill>
                <a:latin typeface="Calibri"/>
              </a:rPr>
              <a:t>•  Compliance review is manual and comes after the draft</a:t>
            </a:r>
          </a:p>
          <a:p>
            <a:pPr algn="l">
              <a:spcAft>
                <a:spcPts val="1200"/>
              </a:spcAft>
            </a:pPr>
            <a:r>
              <a:rPr sz="1800" b="0">
                <a:solidFill>
                  <a:srgbClr val="003A70"/>
                </a:solidFill>
                <a:latin typeface="Calibri"/>
              </a:rPr>
              <a:t>•  Generic AI adds risk: guaranteed-return language, missing disclosures, no proof of review</a:t>
            </a:r>
          </a:p>
        </p:txBody>
      </p:sp>
      <p:sp>
        <p:nvSpPr>
          <p:cNvPr id="12" name="Rounded Rectangle 11"/>
          <p:cNvSpPr/>
          <p:nvPr/>
        </p:nvSpPr>
        <p:spPr>
          <a:xfrm>
            <a:off x="8138160" y="1828800"/>
            <a:ext cx="3566160" cy="640080"/>
          </a:xfrm>
          <a:prstGeom prst="roundRect">
            <a:avLst>
              <a:gd name="adj" fmla="val 6000"/>
            </a:avLst>
          </a:prstGeom>
          <a:solidFill>
            <a:srgbClr val="2E8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Why it matters</a:t>
            </a:r>
          </a:p>
        </p:txBody>
      </p:sp>
      <p:sp>
        <p:nvSpPr>
          <p:cNvPr id="13" name="Rounded Rectangle 12"/>
          <p:cNvSpPr/>
          <p:nvPr/>
        </p:nvSpPr>
        <p:spPr>
          <a:xfrm>
            <a:off x="8138160" y="2514600"/>
            <a:ext cx="3566160" cy="356616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651760"/>
            <a:ext cx="3291840" cy="3383280"/>
          </a:xfrm>
          <a:prstGeom prst="rect">
            <a:avLst/>
          </a:prstGeom>
          <a:noFill/>
        </p:spPr>
        <p:txBody>
          <a:bodyPr wrap="square" anchor="t" lIns="45720" rIns="45720" tIns="27432" bIns="27432">
            <a:spAutoFit/>
          </a:bodyPr>
          <a:lstStyle/>
          <a:p>
            <a:pPr algn="l">
              <a:spcAft>
                <a:spcPts val="1200"/>
              </a:spcAft>
            </a:pPr>
            <a:r>
              <a:rPr sz="1800" b="0">
                <a:solidFill>
                  <a:srgbClr val="003A70"/>
                </a:solidFill>
                <a:latin typeface="Calibri"/>
              </a:rPr>
              <a:t>•  FINRA 2210 and Reg BI expect fair, supervised, recorded communications</a:t>
            </a:r>
          </a:p>
          <a:p>
            <a:pPr algn="l">
              <a:spcAft>
                <a:spcPts val="1200"/>
              </a:spcAft>
            </a:pPr>
            <a:r>
              <a:rPr sz="1800" b="0">
                <a:solidFill>
                  <a:srgbClr val="003A70"/>
                </a:solidFill>
                <a:latin typeface="Calibri"/>
              </a:rPr>
              <a:t>•  Firms want AI speed but cannot accept AI without supervision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1097280"/>
          </a:xfrm>
          <a:prstGeom prst="rect">
            <a:avLst/>
          </a:prstGeom>
          <a:noFill/>
        </p:spPr>
        <p:txBody>
          <a:bodyPr wrap="square" anchor="ctr" lIns="45720" rIns="45720" tIns="27432" bIns="27432">
            <a:spAutoFit/>
          </a:bodyPr>
          <a:lstStyle/>
          <a:p>
            <a:pPr algn="l">
              <a:spcAft>
                <a:spcPts val="600"/>
              </a:spcAft>
            </a:pPr>
            <a:r>
              <a:rPr sz="3000" b="1">
                <a:solidFill>
                  <a:srgbClr val="003A70"/>
                </a:solidFill>
                <a:latin typeface="Calibri"/>
              </a:rPr>
              <a:t>Our solution: AI drafts, humans stay accountable, the system proves it</a:t>
            </a:r>
          </a:p>
        </p:txBody>
      </p:sp>
      <p:sp>
        <p:nvSpPr>
          <p:cNvPr id="3" name="Rectangle 2"/>
          <p:cNvSpPr/>
          <p:nvPr/>
        </p:nvSpPr>
        <p:spPr>
          <a:xfrm>
            <a:off x="548640" y="1417320"/>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332720" y="6400800"/>
            <a:ext cx="1371600" cy="292608"/>
          </a:xfrm>
          <a:prstGeom prst="roundRect">
            <a:avLst>
              <a:gd name="adj" fmla="val 50000"/>
            </a:avLst>
          </a:prstGeom>
          <a:solidFill>
            <a:srgbClr val="5B6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0:30</a:t>
            </a:r>
          </a:p>
        </p:txBody>
      </p:sp>
      <p:sp>
        <p:nvSpPr>
          <p:cNvPr id="5" name="TextBox 4"/>
          <p:cNvSpPr txBox="1"/>
          <p:nvPr/>
        </p:nvSpPr>
        <p:spPr>
          <a:xfrm>
            <a:off x="548640" y="6419088"/>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Pentagon 5"/>
          <p:cNvSpPr/>
          <p:nvPr/>
        </p:nvSpPr>
        <p:spPr>
          <a:xfrm>
            <a:off x="457200" y="1783080"/>
            <a:ext cx="2057400" cy="1188720"/>
          </a:xfrm>
          <a:prstGeom prst="homePlate">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Delegate</a:t>
            </a:r>
          </a:p>
          <a:p>
            <a:pPr algn="ctr"/>
            <a:r>
              <a:rPr sz="1300" b="1">
                <a:solidFill>
                  <a:srgbClr val="FFFFFF"/>
                </a:solidFill>
                <a:latin typeface="Calibri"/>
              </a:rPr>
              <a:t>a task</a:t>
            </a:r>
          </a:p>
        </p:txBody>
      </p:sp>
      <p:sp>
        <p:nvSpPr>
          <p:cNvPr id="7" name="Chevron 6"/>
          <p:cNvSpPr/>
          <p:nvPr/>
        </p:nvSpPr>
        <p:spPr>
          <a:xfrm>
            <a:off x="2377440" y="1783080"/>
            <a:ext cx="2057400" cy="1188720"/>
          </a:xfrm>
          <a:prstGeom prst="chevron">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AI drafts</a:t>
            </a:r>
          </a:p>
          <a:p>
            <a:pPr algn="ctr"/>
            <a:r>
              <a:rPr sz="1300" b="1">
                <a:solidFill>
                  <a:srgbClr val="FFFFFF"/>
                </a:solidFill>
                <a:latin typeface="Calibri"/>
              </a:rPr>
              <a:t>(Amazon Bedrock)</a:t>
            </a:r>
          </a:p>
        </p:txBody>
      </p:sp>
      <p:sp>
        <p:nvSpPr>
          <p:cNvPr id="8" name="Chevron 7"/>
          <p:cNvSpPr/>
          <p:nvPr/>
        </p:nvSpPr>
        <p:spPr>
          <a:xfrm>
            <a:off x="4297680" y="1783080"/>
            <a:ext cx="2057400" cy="1188720"/>
          </a:xfrm>
          <a:prstGeom prst="chevron">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Automated</a:t>
            </a:r>
          </a:p>
          <a:p>
            <a:pPr algn="ctr"/>
            <a:r>
              <a:rPr sz="1300" b="1">
                <a:solidFill>
                  <a:srgbClr val="FFFFFF"/>
                </a:solidFill>
                <a:latin typeface="Calibri"/>
              </a:rPr>
              <a:t>compliance checks</a:t>
            </a:r>
          </a:p>
        </p:txBody>
      </p:sp>
      <p:sp>
        <p:nvSpPr>
          <p:cNvPr id="9" name="Chevron 8"/>
          <p:cNvSpPr/>
          <p:nvPr/>
        </p:nvSpPr>
        <p:spPr>
          <a:xfrm>
            <a:off x="6217920" y="1783080"/>
            <a:ext cx="2057400" cy="1188720"/>
          </a:xfrm>
          <a:prstGeom prst="chevron">
            <a:avLst/>
          </a:prstGeom>
          <a:solidFill>
            <a:srgbClr val="003A70"/>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Advisor</a:t>
            </a:r>
          </a:p>
          <a:p>
            <a:pPr algn="ctr"/>
            <a:r>
              <a:rPr sz="1300" b="1">
                <a:solidFill>
                  <a:srgbClr val="FFFFFF"/>
                </a:solidFill>
                <a:latin typeface="Calibri"/>
              </a:rPr>
              <a:t>approves</a:t>
            </a:r>
          </a:p>
        </p:txBody>
      </p:sp>
      <p:sp>
        <p:nvSpPr>
          <p:cNvPr id="10" name="Chevron 9"/>
          <p:cNvSpPr/>
          <p:nvPr/>
        </p:nvSpPr>
        <p:spPr>
          <a:xfrm>
            <a:off x="8138160" y="1783080"/>
            <a:ext cx="2057400" cy="1188720"/>
          </a:xfrm>
          <a:prstGeom prst="chevron">
            <a:avLst/>
          </a:prstGeom>
          <a:solidFill>
            <a:srgbClr val="2E8B3A"/>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Principal</a:t>
            </a:r>
          </a:p>
          <a:p>
            <a:pPr algn="ctr"/>
            <a:r>
              <a:rPr sz="1300" b="1">
                <a:solidFill>
                  <a:srgbClr val="FFFFFF"/>
                </a:solidFill>
                <a:latin typeface="Calibri"/>
              </a:rPr>
              <a:t>approves</a:t>
            </a:r>
          </a:p>
        </p:txBody>
      </p:sp>
      <p:sp>
        <p:nvSpPr>
          <p:cNvPr id="11" name="Chevron 10"/>
          <p:cNvSpPr/>
          <p:nvPr/>
        </p:nvSpPr>
        <p:spPr>
          <a:xfrm>
            <a:off x="10058400" y="1783080"/>
            <a:ext cx="2057400" cy="1188720"/>
          </a:xfrm>
          <a:prstGeom prst="chevron">
            <a:avLst/>
          </a:prstGeom>
          <a:solidFill>
            <a:srgbClr val="2E8B3A"/>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rIns="182880"/>
          <a:lstStyle/>
          <a:p>
            <a:pPr algn="ctr"/>
            <a:r>
              <a:rPr sz="1300" b="1">
                <a:solidFill>
                  <a:srgbClr val="FFFFFF"/>
                </a:solidFill>
                <a:latin typeface="Calibri"/>
              </a:rPr>
              <a:t>Tamper-evident</a:t>
            </a:r>
          </a:p>
          <a:p>
            <a:pPr algn="ctr"/>
            <a:r>
              <a:rPr sz="1300" b="1">
                <a:solidFill>
                  <a:srgbClr val="FFFFFF"/>
                </a:solidFill>
                <a:latin typeface="Calibri"/>
              </a:rPr>
              <a:t>record</a:t>
            </a:r>
          </a:p>
        </p:txBody>
      </p:sp>
      <p:sp>
        <p:nvSpPr>
          <p:cNvPr id="12" name="TextBox 11"/>
          <p:cNvSpPr txBox="1"/>
          <p:nvPr/>
        </p:nvSpPr>
        <p:spPr>
          <a:xfrm>
            <a:off x="548640" y="3246120"/>
            <a:ext cx="11064240" cy="457200"/>
          </a:xfrm>
          <a:prstGeom prst="rect">
            <a:avLst/>
          </a:prstGeom>
          <a:noFill/>
        </p:spPr>
        <p:txBody>
          <a:bodyPr wrap="square" anchor="t" lIns="45720" rIns="45720" tIns="27432" bIns="27432">
            <a:spAutoFit/>
          </a:bodyPr>
          <a:lstStyle/>
          <a:p>
            <a:pPr algn="l">
              <a:spcAft>
                <a:spcPts val="600"/>
              </a:spcAft>
            </a:pPr>
            <a:r>
              <a:rPr sz="2000" b="1">
                <a:solidFill>
                  <a:srgbClr val="0073CF"/>
                </a:solidFill>
                <a:latin typeface="Calibri"/>
              </a:rPr>
              <a:t>Built and working today</a:t>
            </a:r>
          </a:p>
        </p:txBody>
      </p:sp>
      <p:sp>
        <p:nvSpPr>
          <p:cNvPr id="13" name="Rounded Rectangle 12"/>
          <p:cNvSpPr/>
          <p:nvPr/>
        </p:nvSpPr>
        <p:spPr>
          <a:xfrm>
            <a:off x="548640" y="3794760"/>
            <a:ext cx="2651760" cy="21031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840480"/>
            <a:ext cx="2651760" cy="822960"/>
          </a:xfrm>
          <a:prstGeom prst="rect">
            <a:avLst/>
          </a:prstGeom>
          <a:noFill/>
        </p:spPr>
        <p:txBody>
          <a:bodyPr wrap="square" anchor="t" lIns="45720" rIns="45720" tIns="27432" bIns="27432">
            <a:spAutoFit/>
          </a:bodyPr>
          <a:lstStyle/>
          <a:p>
            <a:pPr algn="ctr">
              <a:spcAft>
                <a:spcPts val="600"/>
              </a:spcAft>
            </a:pPr>
            <a:r>
              <a:rPr sz="3800" b="1">
                <a:solidFill>
                  <a:srgbClr val="0073CF"/>
                </a:solidFill>
                <a:latin typeface="Calibri"/>
              </a:rPr>
              <a:t>13</a:t>
            </a:r>
          </a:p>
        </p:txBody>
      </p:sp>
      <p:sp>
        <p:nvSpPr>
          <p:cNvPr id="15" name="TextBox 14"/>
          <p:cNvSpPr txBox="1"/>
          <p:nvPr/>
        </p:nvSpPr>
        <p:spPr>
          <a:xfrm>
            <a:off x="685800" y="4663440"/>
            <a:ext cx="2377440" cy="1188720"/>
          </a:xfrm>
          <a:prstGeom prst="rect">
            <a:avLst/>
          </a:prstGeom>
          <a:noFill/>
        </p:spPr>
        <p:txBody>
          <a:bodyPr wrap="square" anchor="t" lIns="45720" rIns="45720" tIns="27432" bIns="27432">
            <a:spAutoFit/>
          </a:bodyPr>
          <a:lstStyle/>
          <a:p>
            <a:pPr algn="ctr">
              <a:spcAft>
                <a:spcPts val="600"/>
              </a:spcAft>
            </a:pPr>
            <a:r>
              <a:rPr sz="1500" b="0">
                <a:solidFill>
                  <a:srgbClr val="003A70"/>
                </a:solidFill>
                <a:latin typeface="Calibri"/>
              </a:rPr>
              <a:t>automated compliance rules; blocking findings stop approval</a:t>
            </a:r>
          </a:p>
        </p:txBody>
      </p:sp>
      <p:sp>
        <p:nvSpPr>
          <p:cNvPr id="16" name="Rounded Rectangle 15"/>
          <p:cNvSpPr/>
          <p:nvPr/>
        </p:nvSpPr>
        <p:spPr>
          <a:xfrm>
            <a:off x="3337560" y="3794760"/>
            <a:ext cx="2651760" cy="21031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37560" y="3840480"/>
            <a:ext cx="2651760" cy="822960"/>
          </a:xfrm>
          <a:prstGeom prst="rect">
            <a:avLst/>
          </a:prstGeom>
          <a:noFill/>
        </p:spPr>
        <p:txBody>
          <a:bodyPr wrap="square" anchor="t" lIns="45720" rIns="45720" tIns="27432" bIns="27432">
            <a:spAutoFit/>
          </a:bodyPr>
          <a:lstStyle/>
          <a:p>
            <a:pPr algn="ctr">
              <a:spcAft>
                <a:spcPts val="600"/>
              </a:spcAft>
            </a:pPr>
            <a:r>
              <a:rPr sz="3800" b="1">
                <a:solidFill>
                  <a:srgbClr val="0073CF"/>
                </a:solidFill>
                <a:latin typeface="Calibri"/>
              </a:rPr>
              <a:t>3</a:t>
            </a:r>
          </a:p>
        </p:txBody>
      </p:sp>
      <p:sp>
        <p:nvSpPr>
          <p:cNvPr id="18" name="TextBox 17"/>
          <p:cNvSpPr txBox="1"/>
          <p:nvPr/>
        </p:nvSpPr>
        <p:spPr>
          <a:xfrm>
            <a:off x="3474720" y="4663440"/>
            <a:ext cx="2377440" cy="1188720"/>
          </a:xfrm>
          <a:prstGeom prst="rect">
            <a:avLst/>
          </a:prstGeom>
          <a:noFill/>
        </p:spPr>
        <p:txBody>
          <a:bodyPr wrap="square" anchor="t" lIns="45720" rIns="45720" tIns="27432" bIns="27432">
            <a:spAutoFit/>
          </a:bodyPr>
          <a:lstStyle/>
          <a:p>
            <a:pPr algn="ctr">
              <a:spcAft>
                <a:spcPts val="600"/>
              </a:spcAft>
            </a:pPr>
            <a:r>
              <a:rPr sz="1500" b="0">
                <a:solidFill>
                  <a:srgbClr val="003A70"/>
                </a:solidFill>
                <a:latin typeface="Calibri"/>
              </a:rPr>
              <a:t>roles with two-level approval: advisor, then principal</a:t>
            </a:r>
          </a:p>
        </p:txBody>
      </p:sp>
      <p:sp>
        <p:nvSpPr>
          <p:cNvPr id="19" name="Rounded Rectangle 18"/>
          <p:cNvSpPr/>
          <p:nvPr/>
        </p:nvSpPr>
        <p:spPr>
          <a:xfrm>
            <a:off x="6126479" y="3794760"/>
            <a:ext cx="2651760" cy="21031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79" y="3840480"/>
            <a:ext cx="2651760" cy="822960"/>
          </a:xfrm>
          <a:prstGeom prst="rect">
            <a:avLst/>
          </a:prstGeom>
          <a:noFill/>
        </p:spPr>
        <p:txBody>
          <a:bodyPr wrap="square" anchor="t" lIns="45720" rIns="45720" tIns="27432" bIns="27432">
            <a:spAutoFit/>
          </a:bodyPr>
          <a:lstStyle/>
          <a:p>
            <a:pPr algn="ctr">
              <a:spcAft>
                <a:spcPts val="600"/>
              </a:spcAft>
            </a:pPr>
            <a:r>
              <a:rPr sz="3800" b="1">
                <a:solidFill>
                  <a:srgbClr val="0073CF"/>
                </a:solidFill>
                <a:latin typeface="Calibri"/>
              </a:rPr>
              <a:t>1</a:t>
            </a:r>
          </a:p>
        </p:txBody>
      </p:sp>
      <p:sp>
        <p:nvSpPr>
          <p:cNvPr id="21" name="TextBox 20"/>
          <p:cNvSpPr txBox="1"/>
          <p:nvPr/>
        </p:nvSpPr>
        <p:spPr>
          <a:xfrm>
            <a:off x="6263640" y="4663440"/>
            <a:ext cx="2377440" cy="1188720"/>
          </a:xfrm>
          <a:prstGeom prst="rect">
            <a:avLst/>
          </a:prstGeom>
          <a:noFill/>
        </p:spPr>
        <p:txBody>
          <a:bodyPr wrap="square" anchor="t" lIns="45720" rIns="45720" tIns="27432" bIns="27432">
            <a:spAutoFit/>
          </a:bodyPr>
          <a:lstStyle/>
          <a:p>
            <a:pPr algn="ctr">
              <a:spcAft>
                <a:spcPts val="600"/>
              </a:spcAft>
            </a:pPr>
            <a:r>
              <a:rPr sz="1500" b="0">
                <a:solidFill>
                  <a:srgbClr val="003A70"/>
                </a:solidFill>
                <a:latin typeface="Calibri"/>
              </a:rPr>
              <a:t>hash-chained audit trail with real user IDs, verified on demand</a:t>
            </a:r>
          </a:p>
        </p:txBody>
      </p:sp>
      <p:sp>
        <p:nvSpPr>
          <p:cNvPr id="22" name="Rounded Rectangle 21"/>
          <p:cNvSpPr/>
          <p:nvPr/>
        </p:nvSpPr>
        <p:spPr>
          <a:xfrm>
            <a:off x="8915399" y="3794760"/>
            <a:ext cx="2651760" cy="21031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399" y="3840480"/>
            <a:ext cx="2651760" cy="822960"/>
          </a:xfrm>
          <a:prstGeom prst="rect">
            <a:avLst/>
          </a:prstGeom>
          <a:noFill/>
        </p:spPr>
        <p:txBody>
          <a:bodyPr wrap="square" anchor="t" lIns="45720" rIns="45720" tIns="27432" bIns="27432">
            <a:spAutoFit/>
          </a:bodyPr>
          <a:lstStyle/>
          <a:p>
            <a:pPr algn="ctr">
              <a:spcAft>
                <a:spcPts val="600"/>
              </a:spcAft>
            </a:pPr>
            <a:r>
              <a:rPr sz="3800" b="1">
                <a:solidFill>
                  <a:srgbClr val="0073CF"/>
                </a:solidFill>
                <a:latin typeface="Calibri"/>
              </a:rPr>
              <a:t>AWS</a:t>
            </a:r>
          </a:p>
        </p:txBody>
      </p:sp>
      <p:sp>
        <p:nvSpPr>
          <p:cNvPr id="24" name="TextBox 23"/>
          <p:cNvSpPr txBox="1"/>
          <p:nvPr/>
        </p:nvSpPr>
        <p:spPr>
          <a:xfrm>
            <a:off x="9052559" y="4663440"/>
            <a:ext cx="2377440" cy="1188720"/>
          </a:xfrm>
          <a:prstGeom prst="rect">
            <a:avLst/>
          </a:prstGeom>
          <a:noFill/>
        </p:spPr>
        <p:txBody>
          <a:bodyPr wrap="square" anchor="t" lIns="45720" rIns="45720" tIns="27432" bIns="27432">
            <a:spAutoFit/>
          </a:bodyPr>
          <a:lstStyle/>
          <a:p>
            <a:pPr algn="ctr">
              <a:spcAft>
                <a:spcPts val="600"/>
              </a:spcAft>
            </a:pPr>
            <a:r>
              <a:rPr sz="1500" b="0">
                <a:solidFill>
                  <a:srgbClr val="003A70"/>
                </a:solidFill>
                <a:latin typeface="Calibri"/>
              </a:rPr>
              <a:t>Bedrock drafts, DynamoDB shared state, live today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1097280"/>
          </a:xfrm>
          <a:prstGeom prst="rect">
            <a:avLst/>
          </a:prstGeom>
          <a:noFill/>
        </p:spPr>
        <p:txBody>
          <a:bodyPr wrap="square" anchor="ctr" lIns="45720" rIns="45720" tIns="27432" bIns="27432">
            <a:spAutoFit/>
          </a:bodyPr>
          <a:lstStyle/>
          <a:p>
            <a:pPr algn="l">
              <a:spcAft>
                <a:spcPts val="600"/>
              </a:spcAft>
            </a:pPr>
            <a:r>
              <a:rPr sz="3000" b="1">
                <a:solidFill>
                  <a:srgbClr val="003A70"/>
                </a:solidFill>
                <a:latin typeface="Calibri"/>
              </a:rPr>
              <a:t>Live demo: one document, three people, one verified record</a:t>
            </a:r>
          </a:p>
        </p:txBody>
      </p:sp>
      <p:sp>
        <p:nvSpPr>
          <p:cNvPr id="3" name="Rectangle 2"/>
          <p:cNvSpPr/>
          <p:nvPr/>
        </p:nvSpPr>
        <p:spPr>
          <a:xfrm>
            <a:off x="548640" y="1417320"/>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332720" y="6400800"/>
            <a:ext cx="1371600" cy="292608"/>
          </a:xfrm>
          <a:prstGeom prst="roundRect">
            <a:avLst>
              <a:gd name="adj" fmla="val 50000"/>
            </a:avLst>
          </a:prstGeom>
          <a:solidFill>
            <a:srgbClr val="5B6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3:00</a:t>
            </a:r>
          </a:p>
        </p:txBody>
      </p:sp>
      <p:sp>
        <p:nvSpPr>
          <p:cNvPr id="5" name="TextBox 4"/>
          <p:cNvSpPr txBox="1"/>
          <p:nvPr/>
        </p:nvSpPr>
        <p:spPr>
          <a:xfrm>
            <a:off x="548640" y="6419088"/>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Rounded Rectangle 5"/>
          <p:cNvSpPr/>
          <p:nvPr/>
        </p:nvSpPr>
        <p:spPr>
          <a:xfrm>
            <a:off x="548640" y="1783080"/>
            <a:ext cx="914400" cy="68580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0:00</a:t>
            </a:r>
          </a:p>
        </p:txBody>
      </p:sp>
      <p:sp>
        <p:nvSpPr>
          <p:cNvPr id="7" name="TextBox 6"/>
          <p:cNvSpPr txBox="1"/>
          <p:nvPr/>
        </p:nvSpPr>
        <p:spPr>
          <a:xfrm>
            <a:off x="1645920" y="1783080"/>
            <a:ext cx="630936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Assistant signs in, picks a client and task, generates a draft with Bedrock</a:t>
            </a:r>
          </a:p>
        </p:txBody>
      </p:sp>
      <p:sp>
        <p:nvSpPr>
          <p:cNvPr id="8" name="Rounded Rectangle 7"/>
          <p:cNvSpPr/>
          <p:nvPr/>
        </p:nvSpPr>
        <p:spPr>
          <a:xfrm>
            <a:off x="548640" y="2679191"/>
            <a:ext cx="914400" cy="68580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0:30</a:t>
            </a:r>
          </a:p>
        </p:txBody>
      </p:sp>
      <p:sp>
        <p:nvSpPr>
          <p:cNvPr id="9" name="TextBox 8"/>
          <p:cNvSpPr txBox="1"/>
          <p:nvPr/>
        </p:nvSpPr>
        <p:spPr>
          <a:xfrm>
            <a:off x="1645920" y="2679191"/>
            <a:ext cx="630936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Compliance checks run; an edit saying 'guaranteed returns' is BLOCKED with the rule and citation; fix it</a:t>
            </a:r>
          </a:p>
        </p:txBody>
      </p:sp>
      <p:sp>
        <p:nvSpPr>
          <p:cNvPr id="10" name="Rounded Rectangle 9"/>
          <p:cNvSpPr/>
          <p:nvPr/>
        </p:nvSpPr>
        <p:spPr>
          <a:xfrm>
            <a:off x="548640" y="3575304"/>
            <a:ext cx="914400" cy="68580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1:15</a:t>
            </a:r>
          </a:p>
        </p:txBody>
      </p:sp>
      <p:sp>
        <p:nvSpPr>
          <p:cNvPr id="11" name="TextBox 10"/>
          <p:cNvSpPr txBox="1"/>
          <p:nvPr/>
        </p:nvSpPr>
        <p:spPr>
          <a:xfrm>
            <a:off x="1645920" y="3575304"/>
            <a:ext cx="630936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Advisor reviews the diff against the AI draft and approves</a:t>
            </a:r>
          </a:p>
        </p:txBody>
      </p:sp>
      <p:sp>
        <p:nvSpPr>
          <p:cNvPr id="12" name="Rounded Rectangle 11"/>
          <p:cNvSpPr/>
          <p:nvPr/>
        </p:nvSpPr>
        <p:spPr>
          <a:xfrm>
            <a:off x="548640" y="4471416"/>
            <a:ext cx="914400" cy="68580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1:50</a:t>
            </a:r>
          </a:p>
        </p:txBody>
      </p:sp>
      <p:sp>
        <p:nvSpPr>
          <p:cNvPr id="13" name="TextBox 12"/>
          <p:cNvSpPr txBox="1"/>
          <p:nvPr/>
        </p:nvSpPr>
        <p:spPr>
          <a:xfrm>
            <a:off x="1645920" y="4471416"/>
            <a:ext cx="630936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Compliance principal opens the queue and approves for release (or rejects with a reason)</a:t>
            </a:r>
          </a:p>
        </p:txBody>
      </p:sp>
      <p:sp>
        <p:nvSpPr>
          <p:cNvPr id="14" name="Rounded Rectangle 13"/>
          <p:cNvSpPr/>
          <p:nvPr/>
        </p:nvSpPr>
        <p:spPr>
          <a:xfrm>
            <a:off x="548640" y="5367528"/>
            <a:ext cx="914400" cy="68580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2:30</a:t>
            </a:r>
          </a:p>
        </p:txBody>
      </p:sp>
      <p:sp>
        <p:nvSpPr>
          <p:cNvPr id="15" name="TextBox 14"/>
          <p:cNvSpPr txBox="1"/>
          <p:nvPr/>
        </p:nvSpPr>
        <p:spPr>
          <a:xfrm>
            <a:off x="1645920" y="5367528"/>
            <a:ext cx="6309360" cy="731520"/>
          </a:xfrm>
          <a:prstGeom prst="rect">
            <a:avLst/>
          </a:prstGeom>
          <a:noFill/>
        </p:spPr>
        <p:txBody>
          <a:bodyPr wrap="square" anchor="ctr" lIns="45720" rIns="45720" tIns="27432" bIns="27432">
            <a:spAutoFit/>
          </a:bodyPr>
          <a:lstStyle/>
          <a:p>
            <a:pPr algn="l">
              <a:spcAft>
                <a:spcPts val="600"/>
              </a:spcAft>
            </a:pPr>
            <a:r>
              <a:rPr sz="1600" b="0">
                <a:solidFill>
                  <a:srgbClr val="003A70"/>
                </a:solidFill>
                <a:latin typeface="Calibri"/>
              </a:rPr>
              <a:t>Audit tab: who did what, hashes, 'Record integrity verified', export</a:t>
            </a:r>
          </a:p>
        </p:txBody>
      </p:sp>
      <p:sp>
        <p:nvSpPr>
          <p:cNvPr id="16" name="Rounded Rectangle 15"/>
          <p:cNvSpPr/>
          <p:nvPr/>
        </p:nvSpPr>
        <p:spPr>
          <a:xfrm>
            <a:off x="8321040" y="1783080"/>
            <a:ext cx="3291840" cy="443484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1874519"/>
            <a:ext cx="3017520" cy="4297680"/>
          </a:xfrm>
          <a:prstGeom prst="rect">
            <a:avLst/>
          </a:prstGeom>
          <a:noFill/>
        </p:spPr>
        <p:txBody>
          <a:bodyPr wrap="square" anchor="t" lIns="45720" rIns="45720" tIns="27432" bIns="27432">
            <a:spAutoFit/>
          </a:bodyPr>
          <a:lstStyle/>
          <a:p>
            <a:pPr algn="l">
              <a:spcAft>
                <a:spcPts val="1000"/>
              </a:spcAft>
            </a:pPr>
            <a:r>
              <a:rPr sz="1700" b="1">
                <a:solidFill>
                  <a:srgbClr val="0073CF"/>
                </a:solidFill>
                <a:latin typeface="Calibri"/>
              </a:rPr>
              <a:t>Working app on AWS</a:t>
            </a:r>
          </a:p>
          <a:p>
            <a:pPr algn="l">
              <a:spcAft>
                <a:spcPts val="1000"/>
              </a:spcAft>
            </a:pPr>
            <a:r>
              <a:rPr sz="1400" b="0">
                <a:solidFill>
                  <a:srgbClr val="003A70"/>
                </a:solidFill>
                <a:latin typeface="Calibri"/>
              </a:rPr>
              <a:t>http://98.89.13.40:8080</a:t>
            </a:r>
          </a:p>
          <a:p>
            <a:pPr algn="l">
              <a:spcAft>
                <a:spcPts val="1000"/>
              </a:spcAft>
            </a:pPr>
            <a:r>
              <a:rPr sz="1700" b="1">
                <a:solidFill>
                  <a:srgbClr val="0073CF"/>
                </a:solidFill>
                <a:latin typeface="Calibri"/>
              </a:rPr>
              <a:t>Sign-ins</a:t>
            </a:r>
          </a:p>
          <a:p>
            <a:pPr algn="l">
              <a:spcAft>
                <a:spcPts val="1000"/>
              </a:spcAft>
            </a:pPr>
            <a:r>
              <a:rPr sz="1400" b="0">
                <a:solidFill>
                  <a:srgbClr val="003A70"/>
                </a:solidFill>
                <a:latin typeface="Calibri"/>
              </a:rPr>
              <a:t>assistant1  ·  advisor1  ·  principal1</a:t>
            </a:r>
          </a:p>
          <a:p>
            <a:pPr algn="l">
              <a:spcAft>
                <a:spcPts val="1000"/>
              </a:spcAft>
            </a:pPr>
            <a:r>
              <a:rPr sz="1700" b="1">
                <a:solidFill>
                  <a:srgbClr val="B8510D"/>
                </a:solidFill>
                <a:latin typeface="Calibri"/>
              </a:rPr>
              <a:t>Backup</a:t>
            </a:r>
          </a:p>
          <a:p>
            <a:pPr algn="l">
              <a:spcAft>
                <a:spcPts val="1000"/>
              </a:spcAft>
            </a:pPr>
            <a:r>
              <a:rPr sz="1400" b="0">
                <a:solidFill>
                  <a:srgbClr val="003A70"/>
                </a:solidFill>
                <a:latin typeface="Calibri"/>
              </a:rPr>
              <a:t>Play the recorded run-through if the live app has any trouble.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1097280"/>
          </a:xfrm>
          <a:prstGeom prst="rect">
            <a:avLst/>
          </a:prstGeom>
          <a:noFill/>
        </p:spPr>
        <p:txBody>
          <a:bodyPr wrap="square" anchor="ctr" lIns="45720" rIns="45720" tIns="27432" bIns="27432">
            <a:spAutoFit/>
          </a:bodyPr>
          <a:lstStyle/>
          <a:p>
            <a:pPr algn="l">
              <a:spcAft>
                <a:spcPts val="600"/>
              </a:spcAft>
            </a:pPr>
            <a:r>
              <a:rPr sz="3000" b="1">
                <a:solidFill>
                  <a:srgbClr val="003A70"/>
                </a:solidFill>
                <a:latin typeface="Calibri"/>
              </a:rPr>
              <a:t>Built on AWS, engineered to be trusted</a:t>
            </a:r>
          </a:p>
        </p:txBody>
      </p:sp>
      <p:sp>
        <p:nvSpPr>
          <p:cNvPr id="3" name="Rectangle 2"/>
          <p:cNvSpPr/>
          <p:nvPr/>
        </p:nvSpPr>
        <p:spPr>
          <a:xfrm>
            <a:off x="548640" y="1417320"/>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332720" y="6400800"/>
            <a:ext cx="1371600" cy="292608"/>
          </a:xfrm>
          <a:prstGeom prst="roundRect">
            <a:avLst>
              <a:gd name="adj" fmla="val 50000"/>
            </a:avLst>
          </a:prstGeom>
          <a:solidFill>
            <a:srgbClr val="5B6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0:30</a:t>
            </a:r>
          </a:p>
        </p:txBody>
      </p:sp>
      <p:sp>
        <p:nvSpPr>
          <p:cNvPr id="5" name="TextBox 4"/>
          <p:cNvSpPr txBox="1"/>
          <p:nvPr/>
        </p:nvSpPr>
        <p:spPr>
          <a:xfrm>
            <a:off x="548640" y="6419088"/>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Rounded Rectangle 5"/>
          <p:cNvSpPr/>
          <p:nvPr/>
        </p:nvSpPr>
        <p:spPr>
          <a:xfrm>
            <a:off x="457200" y="1874519"/>
            <a:ext cx="1737360" cy="91440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Assistant</a:t>
            </a:r>
          </a:p>
          <a:p>
            <a:pPr algn="ctr"/>
            <a:r>
              <a:rPr sz="1200" b="0">
                <a:solidFill>
                  <a:srgbClr val="FFFFFF"/>
                </a:solidFill>
                <a:latin typeface="Calibri"/>
              </a:rPr>
              <a:t>Advisor · Principal</a:t>
            </a:r>
          </a:p>
        </p:txBody>
      </p:sp>
      <p:sp>
        <p:nvSpPr>
          <p:cNvPr id="7" name="Rounded Rectangle 6"/>
          <p:cNvSpPr/>
          <p:nvPr/>
        </p:nvSpPr>
        <p:spPr>
          <a:xfrm>
            <a:off x="2651760" y="1874519"/>
            <a:ext cx="1828800" cy="91440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Streamlit</a:t>
            </a:r>
          </a:p>
          <a:p>
            <a:pPr algn="ctr"/>
            <a:r>
              <a:rPr sz="1200" b="0">
                <a:solidFill>
                  <a:srgbClr val="FFFFFF"/>
                </a:solidFill>
                <a:latin typeface="Calibri"/>
              </a:rPr>
              <a:t>dashboard</a:t>
            </a:r>
          </a:p>
        </p:txBody>
      </p:sp>
      <p:sp>
        <p:nvSpPr>
          <p:cNvPr id="8" name="Rounded Rectangle 7"/>
          <p:cNvSpPr/>
          <p:nvPr/>
        </p:nvSpPr>
        <p:spPr>
          <a:xfrm>
            <a:off x="4937760" y="1874519"/>
            <a:ext cx="1828800" cy="91440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FastAPI backend</a:t>
            </a:r>
          </a:p>
          <a:p>
            <a:pPr algn="ctr"/>
            <a:r>
              <a:rPr sz="1200" b="0">
                <a:solidFill>
                  <a:srgbClr val="FFFFFF"/>
                </a:solidFill>
                <a:latin typeface="Calibri"/>
              </a:rPr>
              <a:t>roles + rules</a:t>
            </a:r>
          </a:p>
        </p:txBody>
      </p:sp>
      <p:sp>
        <p:nvSpPr>
          <p:cNvPr id="9" name="Rounded Rectangle 8"/>
          <p:cNvSpPr/>
          <p:nvPr/>
        </p:nvSpPr>
        <p:spPr>
          <a:xfrm>
            <a:off x="7498079" y="1645920"/>
            <a:ext cx="2103120" cy="777240"/>
          </a:xfrm>
          <a:prstGeom prst="roundRect">
            <a:avLst>
              <a:gd name="adj" fmla="val 6000"/>
            </a:avLst>
          </a:prstGeom>
          <a:solidFill>
            <a:srgbClr val="2E8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Amazon Bedrock</a:t>
            </a:r>
          </a:p>
          <a:p>
            <a:pPr algn="ctr"/>
            <a:r>
              <a:rPr sz="1200" b="0">
                <a:solidFill>
                  <a:srgbClr val="FFFFFF"/>
                </a:solidFill>
                <a:latin typeface="Calibri"/>
              </a:rPr>
              <a:t>Claude Sonnet 4.5</a:t>
            </a:r>
          </a:p>
        </p:txBody>
      </p:sp>
      <p:sp>
        <p:nvSpPr>
          <p:cNvPr id="10" name="Rounded Rectangle 9"/>
          <p:cNvSpPr/>
          <p:nvPr/>
        </p:nvSpPr>
        <p:spPr>
          <a:xfrm>
            <a:off x="7498079" y="2697480"/>
            <a:ext cx="2103120" cy="777240"/>
          </a:xfrm>
          <a:prstGeom prst="roundRect">
            <a:avLst>
              <a:gd name="adj" fmla="val 6000"/>
            </a:avLst>
          </a:prstGeom>
          <a:solidFill>
            <a:srgbClr val="2E8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Amazon DynamoDB</a:t>
            </a:r>
          </a:p>
          <a:p>
            <a:pPr algn="ctr"/>
            <a:r>
              <a:rPr sz="1200" b="0">
                <a:solidFill>
                  <a:srgbClr val="FFFFFF"/>
                </a:solidFill>
                <a:latin typeface="Calibri"/>
              </a:rPr>
              <a:t>state + audit log</a:t>
            </a:r>
          </a:p>
        </p:txBody>
      </p:sp>
      <p:sp>
        <p:nvSpPr>
          <p:cNvPr id="11" name="Rounded Rectangle 10"/>
          <p:cNvSpPr/>
          <p:nvPr/>
        </p:nvSpPr>
        <p:spPr>
          <a:xfrm>
            <a:off x="9966960" y="2103120"/>
            <a:ext cx="1828800" cy="914400"/>
          </a:xfrm>
          <a:prstGeom prst="roundRect">
            <a:avLst>
              <a:gd name="adj" fmla="val 6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IAM role</a:t>
            </a:r>
          </a:p>
          <a:p>
            <a:pPr algn="ctr"/>
            <a:r>
              <a:rPr sz="1200" b="0">
                <a:solidFill>
                  <a:srgbClr val="FFFFFF"/>
                </a:solidFill>
                <a:latin typeface="Calibri"/>
              </a:rPr>
              <a:t>no keys stored</a:t>
            </a:r>
          </a:p>
        </p:txBody>
      </p:sp>
      <p:cxnSp>
        <p:nvCxnSpPr>
          <p:cNvPr id="12" name="Connector 11"/>
          <p:cNvCxnSpPr/>
          <p:nvPr/>
        </p:nvCxnSpPr>
        <p:spPr>
          <a:xfrm>
            <a:off x="2194560" y="2331720"/>
            <a:ext cx="457200" cy="0"/>
          </a:xfrm>
          <a:prstGeom prst="line">
            <a:avLst/>
          </a:prstGeom>
          <a:ln w="25400">
            <a:solidFill>
              <a:srgbClr val="003A7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480560" y="2331720"/>
            <a:ext cx="457200" cy="0"/>
          </a:xfrm>
          <a:prstGeom prst="line">
            <a:avLst/>
          </a:prstGeom>
          <a:ln w="25400">
            <a:solidFill>
              <a:srgbClr val="003A7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766560" y="2057400"/>
            <a:ext cx="731519" cy="91440"/>
          </a:xfrm>
          <a:prstGeom prst="line">
            <a:avLst/>
          </a:prstGeom>
          <a:ln w="25400">
            <a:solidFill>
              <a:srgbClr val="003A7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66560" y="2514600"/>
            <a:ext cx="731519" cy="548640"/>
          </a:xfrm>
          <a:prstGeom prst="line">
            <a:avLst/>
          </a:prstGeom>
          <a:ln w="25400">
            <a:solidFill>
              <a:srgbClr val="003A7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9601200" y="2560320"/>
            <a:ext cx="365760" cy="0"/>
          </a:xfrm>
          <a:prstGeom prst="line">
            <a:avLst/>
          </a:prstGeom>
          <a:ln w="25400">
            <a:solidFill>
              <a:srgbClr val="5B6B7B"/>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3749039"/>
            <a:ext cx="2651760" cy="160020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94760"/>
            <a:ext cx="2468880" cy="365760"/>
          </a:xfrm>
          <a:prstGeom prst="rect">
            <a:avLst/>
          </a:prstGeom>
          <a:noFill/>
        </p:spPr>
        <p:txBody>
          <a:bodyPr wrap="square" anchor="t" lIns="45720" rIns="45720" tIns="27432" bIns="27432">
            <a:spAutoFit/>
          </a:bodyPr>
          <a:lstStyle/>
          <a:p>
            <a:pPr algn="l">
              <a:spcAft>
                <a:spcPts val="600"/>
              </a:spcAft>
            </a:pPr>
            <a:r>
              <a:rPr sz="1500" b="1">
                <a:solidFill>
                  <a:srgbClr val="0073CF"/>
                </a:solidFill>
                <a:latin typeface="Calibri"/>
              </a:rPr>
              <a:t>Amazon Bedrock</a:t>
            </a:r>
          </a:p>
        </p:txBody>
      </p:sp>
      <p:sp>
        <p:nvSpPr>
          <p:cNvPr id="19" name="TextBox 18"/>
          <p:cNvSpPr txBox="1"/>
          <p:nvPr/>
        </p:nvSpPr>
        <p:spPr>
          <a:xfrm>
            <a:off x="640080" y="4160520"/>
            <a:ext cx="2468880" cy="1188720"/>
          </a:xfrm>
          <a:prstGeom prst="rect">
            <a:avLst/>
          </a:prstGeom>
          <a:noFill/>
        </p:spPr>
        <p:txBody>
          <a:bodyPr wrap="square" anchor="t" lIns="45720" rIns="45720" tIns="27432" bIns="27432">
            <a:spAutoFit/>
          </a:bodyPr>
          <a:lstStyle/>
          <a:p>
            <a:pPr algn="l">
              <a:spcAft>
                <a:spcPts val="600"/>
              </a:spcAft>
            </a:pPr>
            <a:r>
              <a:rPr sz="1300" b="0">
                <a:solidFill>
                  <a:srgbClr val="003A70"/>
                </a:solidFill>
                <a:latin typeface="Calibri"/>
              </a:rPr>
              <a:t>Claude Sonnet 4.5 drafts and revises through IAM; no model servers to run</a:t>
            </a:r>
          </a:p>
        </p:txBody>
      </p:sp>
      <p:sp>
        <p:nvSpPr>
          <p:cNvPr id="20" name="Rounded Rectangle 19"/>
          <p:cNvSpPr/>
          <p:nvPr/>
        </p:nvSpPr>
        <p:spPr>
          <a:xfrm>
            <a:off x="3337560" y="3749039"/>
            <a:ext cx="2651760" cy="160020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29000" y="3794760"/>
            <a:ext cx="2468880" cy="365760"/>
          </a:xfrm>
          <a:prstGeom prst="rect">
            <a:avLst/>
          </a:prstGeom>
          <a:noFill/>
        </p:spPr>
        <p:txBody>
          <a:bodyPr wrap="square" anchor="t" lIns="45720" rIns="45720" tIns="27432" bIns="27432">
            <a:spAutoFit/>
          </a:bodyPr>
          <a:lstStyle/>
          <a:p>
            <a:pPr algn="l">
              <a:spcAft>
                <a:spcPts val="600"/>
              </a:spcAft>
            </a:pPr>
            <a:r>
              <a:rPr sz="1500" b="1">
                <a:solidFill>
                  <a:srgbClr val="0073CF"/>
                </a:solidFill>
                <a:latin typeface="Calibri"/>
              </a:rPr>
              <a:t>Amazon DynamoDB</a:t>
            </a:r>
          </a:p>
        </p:txBody>
      </p:sp>
      <p:sp>
        <p:nvSpPr>
          <p:cNvPr id="22" name="TextBox 21"/>
          <p:cNvSpPr txBox="1"/>
          <p:nvPr/>
        </p:nvSpPr>
        <p:spPr>
          <a:xfrm>
            <a:off x="3429000" y="4160520"/>
            <a:ext cx="2468880" cy="1188720"/>
          </a:xfrm>
          <a:prstGeom prst="rect">
            <a:avLst/>
          </a:prstGeom>
          <a:noFill/>
        </p:spPr>
        <p:txBody>
          <a:bodyPr wrap="square" anchor="t" lIns="45720" rIns="45720" tIns="27432" bIns="27432">
            <a:spAutoFit/>
          </a:bodyPr>
          <a:lstStyle/>
          <a:p>
            <a:pPr algn="l">
              <a:spcAft>
                <a:spcPts val="600"/>
              </a:spcAft>
            </a:pPr>
            <a:r>
              <a:rPr sz="1300" b="0">
                <a:solidFill>
                  <a:srgbClr val="003A70"/>
                </a:solidFill>
                <a:latin typeface="Calibri"/>
              </a:rPr>
              <a:t>Shared state for every user; conditional writes and transactions protect approvals and the audit chain</a:t>
            </a:r>
          </a:p>
        </p:txBody>
      </p:sp>
      <p:sp>
        <p:nvSpPr>
          <p:cNvPr id="23" name="Rounded Rectangle 22"/>
          <p:cNvSpPr/>
          <p:nvPr/>
        </p:nvSpPr>
        <p:spPr>
          <a:xfrm>
            <a:off x="6126479" y="3749039"/>
            <a:ext cx="2651760" cy="160020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19" y="3794760"/>
            <a:ext cx="2468880" cy="365760"/>
          </a:xfrm>
          <a:prstGeom prst="rect">
            <a:avLst/>
          </a:prstGeom>
          <a:noFill/>
        </p:spPr>
        <p:txBody>
          <a:bodyPr wrap="square" anchor="t" lIns="45720" rIns="45720" tIns="27432" bIns="27432">
            <a:spAutoFit/>
          </a:bodyPr>
          <a:lstStyle/>
          <a:p>
            <a:pPr algn="l">
              <a:spcAft>
                <a:spcPts val="600"/>
              </a:spcAft>
            </a:pPr>
            <a:r>
              <a:rPr sz="1500" b="1">
                <a:solidFill>
                  <a:srgbClr val="0073CF"/>
                </a:solidFill>
                <a:latin typeface="Calibri"/>
              </a:rPr>
              <a:t>Amazon EC2 + Elastic IP</a:t>
            </a:r>
          </a:p>
        </p:txBody>
      </p:sp>
      <p:sp>
        <p:nvSpPr>
          <p:cNvPr id="25" name="TextBox 24"/>
          <p:cNvSpPr txBox="1"/>
          <p:nvPr/>
        </p:nvSpPr>
        <p:spPr>
          <a:xfrm>
            <a:off x="6217919" y="4160520"/>
            <a:ext cx="2468880" cy="1188720"/>
          </a:xfrm>
          <a:prstGeom prst="rect">
            <a:avLst/>
          </a:prstGeom>
          <a:noFill/>
        </p:spPr>
        <p:txBody>
          <a:bodyPr wrap="square" anchor="t" lIns="45720" rIns="45720" tIns="27432" bIns="27432">
            <a:spAutoFit/>
          </a:bodyPr>
          <a:lstStyle/>
          <a:p>
            <a:pPr algn="l">
              <a:spcAft>
                <a:spcPts val="600"/>
              </a:spcAft>
            </a:pPr>
            <a:r>
              <a:rPr sz="1300" b="0">
                <a:solidFill>
                  <a:srgbClr val="003A70"/>
                </a:solidFill>
                <a:latin typeface="Calibri"/>
              </a:rPr>
              <a:t>Hosts the app at a stable address; rebuilt from source by GitHub Actions on every push</a:t>
            </a:r>
          </a:p>
        </p:txBody>
      </p:sp>
      <p:sp>
        <p:nvSpPr>
          <p:cNvPr id="26" name="Rounded Rectangle 25"/>
          <p:cNvSpPr/>
          <p:nvPr/>
        </p:nvSpPr>
        <p:spPr>
          <a:xfrm>
            <a:off x="8915399" y="3749039"/>
            <a:ext cx="2651760" cy="160020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39" y="3794760"/>
            <a:ext cx="2468880" cy="365760"/>
          </a:xfrm>
          <a:prstGeom prst="rect">
            <a:avLst/>
          </a:prstGeom>
          <a:noFill/>
        </p:spPr>
        <p:txBody>
          <a:bodyPr wrap="square" anchor="t" lIns="45720" rIns="45720" tIns="27432" bIns="27432">
            <a:spAutoFit/>
          </a:bodyPr>
          <a:lstStyle/>
          <a:p>
            <a:pPr algn="l">
              <a:spcAft>
                <a:spcPts val="600"/>
              </a:spcAft>
            </a:pPr>
            <a:r>
              <a:rPr sz="1500" b="1">
                <a:solidFill>
                  <a:srgbClr val="0073CF"/>
                </a:solidFill>
                <a:latin typeface="Calibri"/>
              </a:rPr>
              <a:t>IAM instance role</a:t>
            </a:r>
          </a:p>
        </p:txBody>
      </p:sp>
      <p:sp>
        <p:nvSpPr>
          <p:cNvPr id="28" name="TextBox 27"/>
          <p:cNvSpPr txBox="1"/>
          <p:nvPr/>
        </p:nvSpPr>
        <p:spPr>
          <a:xfrm>
            <a:off x="9006839" y="4160520"/>
            <a:ext cx="2468880" cy="1188720"/>
          </a:xfrm>
          <a:prstGeom prst="rect">
            <a:avLst/>
          </a:prstGeom>
          <a:noFill/>
        </p:spPr>
        <p:txBody>
          <a:bodyPr wrap="square" anchor="t" lIns="45720" rIns="45720" tIns="27432" bIns="27432">
            <a:spAutoFit/>
          </a:bodyPr>
          <a:lstStyle/>
          <a:p>
            <a:pPr algn="l">
              <a:spcAft>
                <a:spcPts val="600"/>
              </a:spcAft>
            </a:pPr>
            <a:r>
              <a:rPr sz="1300" b="0">
                <a:solidFill>
                  <a:srgbClr val="003A70"/>
                </a:solidFill>
                <a:latin typeface="Calibri"/>
              </a:rPr>
              <a:t>Gives the app Bedrock and DynamoDB access with no keys in code or on disk</a:t>
            </a:r>
          </a:p>
        </p:txBody>
      </p:sp>
      <p:sp>
        <p:nvSpPr>
          <p:cNvPr id="29" name="Rounded Rectangle 28"/>
          <p:cNvSpPr/>
          <p:nvPr/>
        </p:nvSpPr>
        <p:spPr>
          <a:xfrm>
            <a:off x="548640" y="5532120"/>
            <a:ext cx="11064240" cy="7315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559552"/>
            <a:ext cx="10698480" cy="685800"/>
          </a:xfrm>
          <a:prstGeom prst="rect">
            <a:avLst/>
          </a:prstGeom>
          <a:noFill/>
        </p:spPr>
        <p:txBody>
          <a:bodyPr wrap="square" anchor="ctr" lIns="45720" rIns="45720" tIns="27432" bIns="27432">
            <a:spAutoFit/>
          </a:bodyPr>
          <a:lstStyle/>
          <a:p>
            <a:pPr algn="l">
              <a:spcAft>
                <a:spcPts val="600"/>
              </a:spcAft>
            </a:pPr>
            <a:r>
              <a:rPr sz="1400" b="1">
                <a:solidFill>
                  <a:srgbClr val="003A70"/>
                </a:solidFill>
                <a:latin typeface="Calibri"/>
              </a:rPr>
              <a:t>34 automated tests  ·  race-tested approvals (two advisors, one wins)  ·  rollback if the audit write fails  ·  CI/CD to AWS on every push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1097280"/>
          </a:xfrm>
          <a:prstGeom prst="rect">
            <a:avLst/>
          </a:prstGeom>
          <a:noFill/>
        </p:spPr>
        <p:txBody>
          <a:bodyPr wrap="square" anchor="ctr" lIns="45720" rIns="45720" tIns="27432" bIns="27432">
            <a:spAutoFit/>
          </a:bodyPr>
          <a:lstStyle/>
          <a:p>
            <a:pPr algn="l">
              <a:spcAft>
                <a:spcPts val="600"/>
              </a:spcAft>
            </a:pPr>
            <a:r>
              <a:rPr sz="3000" b="1">
                <a:solidFill>
                  <a:srgbClr val="003A70"/>
                </a:solidFill>
                <a:latin typeface="Calibri"/>
              </a:rPr>
              <a:t>Why it can be a startup, and why LPL should want it</a:t>
            </a:r>
          </a:p>
        </p:txBody>
      </p:sp>
      <p:sp>
        <p:nvSpPr>
          <p:cNvPr id="3" name="Rectangle 2"/>
          <p:cNvSpPr/>
          <p:nvPr/>
        </p:nvSpPr>
        <p:spPr>
          <a:xfrm>
            <a:off x="548640" y="1417320"/>
            <a:ext cx="1280160" cy="64008"/>
          </a:xfrm>
          <a:prstGeom prst="rect">
            <a:avLst/>
          </a:prstGeom>
          <a:solidFill>
            <a:srgbClr val="6CC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332720" y="6400800"/>
            <a:ext cx="1371600" cy="292608"/>
          </a:xfrm>
          <a:prstGeom prst="roundRect">
            <a:avLst>
              <a:gd name="adj" fmla="val 50000"/>
            </a:avLst>
          </a:prstGeom>
          <a:solidFill>
            <a:srgbClr val="5B6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0:30</a:t>
            </a:r>
          </a:p>
        </p:txBody>
      </p:sp>
      <p:sp>
        <p:nvSpPr>
          <p:cNvPr id="5" name="TextBox 4"/>
          <p:cNvSpPr txBox="1"/>
          <p:nvPr/>
        </p:nvSpPr>
        <p:spPr>
          <a:xfrm>
            <a:off x="548640" y="6419088"/>
            <a:ext cx="7315200" cy="274320"/>
          </a:xfrm>
          <a:prstGeom prst="rect">
            <a:avLst/>
          </a:prstGeom>
          <a:noFill/>
        </p:spPr>
        <p:txBody>
          <a:bodyPr wrap="square" anchor="t" lIns="45720" rIns="45720" tIns="27432" bIns="27432">
            <a:spAutoFit/>
          </a:bodyPr>
          <a:lstStyle/>
          <a:p>
            <a:pPr algn="l">
              <a:spcAft>
                <a:spcPts val="600"/>
              </a:spcAft>
            </a:pPr>
            <a:r>
              <a:rPr sz="1000" b="0">
                <a:solidFill>
                  <a:srgbClr val="5B6B7B"/>
                </a:solidFill>
                <a:latin typeface="Calibri"/>
              </a:rPr>
              <a:t>LPL Delegation Assistant  ·  Team 2  ·  2026 LPL Financial University Hackathon</a:t>
            </a:r>
          </a:p>
        </p:txBody>
      </p:sp>
      <p:sp>
        <p:nvSpPr>
          <p:cNvPr id="6" name="Rounded Rectangle 5"/>
          <p:cNvSpPr/>
          <p:nvPr/>
        </p:nvSpPr>
        <p:spPr>
          <a:xfrm>
            <a:off x="548640" y="1783080"/>
            <a:ext cx="3566160" cy="594360"/>
          </a:xfrm>
          <a:prstGeom prst="roundRect">
            <a:avLst>
              <a:gd name="adj" fmla="val 6000"/>
            </a:avLst>
          </a:prstGeom>
          <a:solidFill>
            <a:srgbClr val="0073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900" b="1">
                <a:solidFill>
                  <a:srgbClr val="FFFFFF"/>
                </a:solidFill>
                <a:latin typeface="Calibri"/>
              </a:rPr>
              <a:t>Who buys it</a:t>
            </a:r>
          </a:p>
        </p:txBody>
      </p:sp>
      <p:sp>
        <p:nvSpPr>
          <p:cNvPr id="7" name="Rounded Rectangle 6"/>
          <p:cNvSpPr/>
          <p:nvPr/>
        </p:nvSpPr>
        <p:spPr>
          <a:xfrm>
            <a:off x="548640" y="2423160"/>
            <a:ext cx="3566160" cy="25603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514600"/>
            <a:ext cx="3346704" cy="2423160"/>
          </a:xfrm>
          <a:prstGeom prst="rect">
            <a:avLst/>
          </a:prstGeom>
          <a:noFill/>
        </p:spPr>
        <p:txBody>
          <a:bodyPr wrap="square" anchor="t" lIns="45720" rIns="45720" tIns="27432" bIns="27432">
            <a:spAutoFit/>
          </a:bodyPr>
          <a:lstStyle/>
          <a:p>
            <a:pPr algn="l">
              <a:spcAft>
                <a:spcPts val="800"/>
              </a:spcAft>
            </a:pPr>
            <a:r>
              <a:rPr sz="1500" b="0">
                <a:solidFill>
                  <a:srgbClr val="003A70"/>
                </a:solidFill>
                <a:latin typeface="Calibri"/>
              </a:rPr>
              <a:t>•  Broker-dealer and RIA compliance and operations leaders</a:t>
            </a:r>
          </a:p>
          <a:p>
            <a:pPr algn="l">
              <a:spcAft>
                <a:spcPts val="800"/>
              </a:spcAft>
            </a:pPr>
            <a:r>
              <a:rPr sz="1500" b="0">
                <a:solidFill>
                  <a:srgbClr val="003A70"/>
                </a:solidFill>
                <a:latin typeface="Calibri"/>
              </a:rPr>
              <a:t>•  Per-advisor subscription plus a compliance-team tier (proposed)</a:t>
            </a:r>
          </a:p>
          <a:p>
            <a:pPr algn="l">
              <a:spcAft>
                <a:spcPts val="800"/>
              </a:spcAft>
            </a:pPr>
            <a:r>
              <a:rPr sz="1500" b="0">
                <a:solidFill>
                  <a:srgbClr val="003A70"/>
                </a:solidFill>
                <a:latin typeface="Calibri"/>
              </a:rPr>
              <a:t>•  Pilot with one compliance team, then expand</a:t>
            </a:r>
          </a:p>
        </p:txBody>
      </p:sp>
      <p:sp>
        <p:nvSpPr>
          <p:cNvPr id="9" name="Rounded Rectangle 8"/>
          <p:cNvSpPr/>
          <p:nvPr/>
        </p:nvSpPr>
        <p:spPr>
          <a:xfrm>
            <a:off x="4343400" y="1783080"/>
            <a:ext cx="3566160" cy="59436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900" b="1">
                <a:solidFill>
                  <a:srgbClr val="FFFFFF"/>
                </a:solidFill>
                <a:latin typeface="Calibri"/>
              </a:rPr>
              <a:t>What makes it different</a:t>
            </a:r>
          </a:p>
        </p:txBody>
      </p:sp>
      <p:sp>
        <p:nvSpPr>
          <p:cNvPr id="10" name="Rounded Rectangle 9"/>
          <p:cNvSpPr/>
          <p:nvPr/>
        </p:nvSpPr>
        <p:spPr>
          <a:xfrm>
            <a:off x="4343400" y="2423160"/>
            <a:ext cx="3566160" cy="25603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3128" y="2514600"/>
            <a:ext cx="3346704" cy="2423160"/>
          </a:xfrm>
          <a:prstGeom prst="rect">
            <a:avLst/>
          </a:prstGeom>
          <a:noFill/>
        </p:spPr>
        <p:txBody>
          <a:bodyPr wrap="square" anchor="t" lIns="45720" rIns="45720" tIns="27432" bIns="27432">
            <a:spAutoFit/>
          </a:bodyPr>
          <a:lstStyle/>
          <a:p>
            <a:pPr algn="l">
              <a:spcAft>
                <a:spcPts val="800"/>
              </a:spcAft>
            </a:pPr>
            <a:r>
              <a:rPr sz="1500" b="0">
                <a:solidFill>
                  <a:srgbClr val="003A70"/>
                </a:solidFill>
                <a:latin typeface="Calibri"/>
              </a:rPr>
              <a:t>•  General AI writes; we write safely and prove it</a:t>
            </a:r>
          </a:p>
          <a:p>
            <a:pPr algn="l">
              <a:spcAft>
                <a:spcPts val="800"/>
              </a:spcAft>
            </a:pPr>
            <a:r>
              <a:rPr sz="1500" b="0">
                <a:solidFill>
                  <a:srgbClr val="003A70"/>
                </a:solidFill>
                <a:latin typeface="Calibri"/>
              </a:rPr>
              <a:t>•  Rules, two-level approval and a tamper-evident record in one workflow</a:t>
            </a:r>
          </a:p>
          <a:p>
            <a:pPr algn="l">
              <a:spcAft>
                <a:spcPts val="800"/>
              </a:spcAft>
            </a:pPr>
            <a:r>
              <a:rPr sz="1500" b="0">
                <a:solidFill>
                  <a:srgbClr val="003A70"/>
                </a:solidFill>
                <a:latin typeface="Calibri"/>
              </a:rPr>
              <a:t>•  Runs inside the firm's AWS account</a:t>
            </a:r>
          </a:p>
        </p:txBody>
      </p:sp>
      <p:sp>
        <p:nvSpPr>
          <p:cNvPr id="12" name="Rounded Rectangle 11"/>
          <p:cNvSpPr/>
          <p:nvPr/>
        </p:nvSpPr>
        <p:spPr>
          <a:xfrm>
            <a:off x="8001000" y="1783080"/>
            <a:ext cx="3611880" cy="594360"/>
          </a:xfrm>
          <a:prstGeom prst="roundRect">
            <a:avLst>
              <a:gd name="adj" fmla="val 6000"/>
            </a:avLst>
          </a:prstGeom>
          <a:solidFill>
            <a:srgbClr val="2E8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900" b="1">
                <a:solidFill>
                  <a:srgbClr val="FFFFFF"/>
                </a:solidFill>
                <a:latin typeface="Calibri"/>
              </a:rPr>
              <a:t>Impact</a:t>
            </a:r>
          </a:p>
        </p:txBody>
      </p:sp>
      <p:sp>
        <p:nvSpPr>
          <p:cNvPr id="13" name="Rounded Rectangle 12"/>
          <p:cNvSpPr/>
          <p:nvPr/>
        </p:nvSpPr>
        <p:spPr>
          <a:xfrm>
            <a:off x="8001000" y="2423160"/>
            <a:ext cx="3611880" cy="2560320"/>
          </a:xfrm>
          <a:prstGeom prst="roundRect">
            <a:avLst>
              <a:gd name="adj" fmla="val 6000"/>
            </a:avLst>
          </a:prstGeom>
          <a:solidFill>
            <a:srgbClr val="F2F6FA"/>
          </a:solidFill>
          <a:ln w="15875">
            <a:solidFill>
              <a:srgbClr val="0073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01000" y="2468880"/>
            <a:ext cx="3611880" cy="731520"/>
          </a:xfrm>
          <a:prstGeom prst="rect">
            <a:avLst/>
          </a:prstGeom>
          <a:noFill/>
        </p:spPr>
        <p:txBody>
          <a:bodyPr wrap="square" anchor="t" lIns="45720" rIns="45720" tIns="27432" bIns="27432">
            <a:spAutoFit/>
          </a:bodyPr>
          <a:lstStyle/>
          <a:p>
            <a:pPr algn="ctr">
              <a:spcAft>
                <a:spcPts val="600"/>
              </a:spcAft>
            </a:pPr>
            <a:r>
              <a:rPr sz="3400" b="1">
                <a:solidFill>
                  <a:srgbClr val="0073CF"/>
                </a:solidFill>
                <a:latin typeface="Calibri"/>
              </a:rPr>
              <a:t>5 hrs / week</a:t>
            </a:r>
          </a:p>
        </p:txBody>
      </p:sp>
      <p:sp>
        <p:nvSpPr>
          <p:cNvPr id="15" name="TextBox 14"/>
          <p:cNvSpPr txBox="1"/>
          <p:nvPr/>
        </p:nvSpPr>
        <p:spPr>
          <a:xfrm>
            <a:off x="8138160" y="3154680"/>
            <a:ext cx="3337560" cy="594360"/>
          </a:xfrm>
          <a:prstGeom prst="rect">
            <a:avLst/>
          </a:prstGeom>
          <a:noFill/>
        </p:spPr>
        <p:txBody>
          <a:bodyPr wrap="square" anchor="t" lIns="45720" rIns="45720" tIns="27432" bIns="27432">
            <a:spAutoFit/>
          </a:bodyPr>
          <a:lstStyle/>
          <a:p>
            <a:pPr algn="ctr">
              <a:spcAft>
                <a:spcPts val="600"/>
              </a:spcAft>
            </a:pPr>
            <a:r>
              <a:rPr sz="1200" b="0">
                <a:solidFill>
                  <a:srgbClr val="B8510D"/>
                </a:solidFill>
                <a:latin typeface="Calibri"/>
              </a:rPr>
              <a:t>saved per advisor. Illustrative: 20 documents x 15 minutes; to validate in a pilot</a:t>
            </a:r>
          </a:p>
        </p:txBody>
      </p:sp>
      <p:sp>
        <p:nvSpPr>
          <p:cNvPr id="16" name="TextBox 15"/>
          <p:cNvSpPr txBox="1"/>
          <p:nvPr/>
        </p:nvSpPr>
        <p:spPr>
          <a:xfrm>
            <a:off x="8138160" y="3840480"/>
            <a:ext cx="3337560" cy="1097280"/>
          </a:xfrm>
          <a:prstGeom prst="rect">
            <a:avLst/>
          </a:prstGeom>
          <a:noFill/>
        </p:spPr>
        <p:txBody>
          <a:bodyPr wrap="square" anchor="t" lIns="45720" rIns="45720" tIns="27432" bIns="27432">
            <a:spAutoFit/>
          </a:bodyPr>
          <a:lstStyle/>
          <a:p>
            <a:pPr algn="ctr">
              <a:spcAft>
                <a:spcPts val="600"/>
              </a:spcAft>
            </a:pPr>
            <a:r>
              <a:rPr sz="1300" b="0">
                <a:solidFill>
                  <a:srgbClr val="003A70"/>
                </a:solidFill>
                <a:latin typeface="Calibri"/>
              </a:rPr>
              <a:t>Measured in the product: 100% of drafts checked before review and 100% of actions tied to a named user</a:t>
            </a:r>
          </a:p>
        </p:txBody>
      </p:sp>
      <p:sp>
        <p:nvSpPr>
          <p:cNvPr id="17" name="Rounded Rectangle 16"/>
          <p:cNvSpPr/>
          <p:nvPr/>
        </p:nvSpPr>
        <p:spPr>
          <a:xfrm>
            <a:off x="548640" y="5166360"/>
            <a:ext cx="11064240" cy="1143000"/>
          </a:xfrm>
          <a:prstGeom prst="roundRect">
            <a:avLst>
              <a:gd name="adj" fmla="val 6000"/>
            </a:avLst>
          </a:prstGeom>
          <a:solidFill>
            <a:srgbClr val="003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212080"/>
            <a:ext cx="10698480" cy="54864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AI drafts. Advisors decide. Compliance can prove it.</a:t>
            </a:r>
          </a:p>
        </p:txBody>
      </p:sp>
      <p:sp>
        <p:nvSpPr>
          <p:cNvPr id="19" name="Rounded Rectangle 18"/>
          <p:cNvSpPr/>
          <p:nvPr/>
        </p:nvSpPr>
        <p:spPr>
          <a:xfrm>
            <a:off x="822960" y="5833872"/>
            <a:ext cx="2743200" cy="347472"/>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Startup We'd Buy Tomorrow</a:t>
            </a:r>
          </a:p>
        </p:txBody>
      </p:sp>
      <p:sp>
        <p:nvSpPr>
          <p:cNvPr id="20" name="Rounded Rectangle 19"/>
          <p:cNvSpPr/>
          <p:nvPr/>
        </p:nvSpPr>
        <p:spPr>
          <a:xfrm>
            <a:off x="3749039" y="5833872"/>
            <a:ext cx="2743200" cy="347472"/>
          </a:xfrm>
          <a:prstGeom prst="roundRect">
            <a:avLst>
              <a:gd name="adj" fmla="val 50000"/>
            </a:avLst>
          </a:prstGeom>
          <a:solidFill>
            <a:srgbClr val="007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Best Technical Execution</a:t>
            </a:r>
          </a:p>
        </p:txBody>
      </p:sp>
      <p:sp>
        <p:nvSpPr>
          <p:cNvPr id="21" name="Rounded Rectangle 20"/>
          <p:cNvSpPr/>
          <p:nvPr/>
        </p:nvSpPr>
        <p:spPr>
          <a:xfrm>
            <a:off x="6675120" y="5833872"/>
            <a:ext cx="2011680" cy="347472"/>
          </a:xfrm>
          <a:prstGeom prst="roundRect">
            <a:avLst>
              <a:gd name="adj" fmla="val 50000"/>
            </a:avLst>
          </a:prstGeom>
          <a:solidFill>
            <a:srgbClr val="2E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Best Use of AWS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